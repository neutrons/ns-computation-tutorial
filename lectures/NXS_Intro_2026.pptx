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1" r:id="rId1"/>
  </p:sldMasterIdLst>
  <p:notesMasterIdLst>
    <p:notesMasterId r:id="rId11"/>
  </p:notesMasterIdLst>
  <p:handoutMasterIdLst>
    <p:handoutMasterId r:id="rId12"/>
  </p:handoutMasterIdLst>
  <p:sldIdLst>
    <p:sldId id="2147481337" r:id="rId2"/>
    <p:sldId id="2147481334" r:id="rId3"/>
    <p:sldId id="2147481338" r:id="rId4"/>
    <p:sldId id="2147481340" r:id="rId5"/>
    <p:sldId id="2147481339" r:id="rId6"/>
    <p:sldId id="2147481341" r:id="rId7"/>
    <p:sldId id="2147481344" r:id="rId8"/>
    <p:sldId id="2147481342" r:id="rId9"/>
    <p:sldId id="214748134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476F3E-2B2C-D02E-A927-755D46376812}" name="Elicia Ferrer" initials="EF" userId="ac7d01b8666ae590" providerId="Windows Live"/>
  <p188:author id="{BEF8CA72-6AE8-8AD8-5B9A-8F576BAC3FD5}" name="Janiga, Jaimee" initials="JJ" userId="S::7nj@ornl.gov::c06abe94-9752-4f8c-96a2-49efdf1f636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DBA00"/>
    <a:srgbClr val="FF9E1B"/>
    <a:srgbClr val="7DC397"/>
    <a:srgbClr val="ECECEC"/>
    <a:srgbClr val="4E008E"/>
    <a:srgbClr val="B50094"/>
    <a:srgbClr val="FE5000"/>
    <a:srgbClr val="ED9634"/>
    <a:srgbClr val="005776"/>
    <a:srgbClr val="006B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85"/>
    <p:restoredTop sz="80000"/>
  </p:normalViewPr>
  <p:slideViewPr>
    <p:cSldViewPr snapToGrid="0">
      <p:cViewPr varScale="1">
        <p:scale>
          <a:sx n="96" d="100"/>
          <a:sy n="96" d="100"/>
        </p:scale>
        <p:origin x="1376" y="16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05" d="100"/>
          <a:sy n="105" d="100"/>
        </p:scale>
        <p:origin x="4152"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12F454D-A2FB-E28F-62C2-050A837E17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A896BDF-7ADA-716C-F5CA-D157A094BBB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614C3F-0AF5-DA4C-84F9-3990FF0B58A5}" type="datetimeFigureOut">
              <a:rPr lang="en-US" smtClean="0"/>
              <a:t>8/25/26</a:t>
            </a:fld>
            <a:endParaRPr lang="en-US"/>
          </a:p>
        </p:txBody>
      </p:sp>
      <p:sp>
        <p:nvSpPr>
          <p:cNvPr id="4" name="Footer Placeholder 3">
            <a:extLst>
              <a:ext uri="{FF2B5EF4-FFF2-40B4-BE49-F238E27FC236}">
                <a16:creationId xmlns:a16="http://schemas.microsoft.com/office/drawing/2014/main" id="{72677AF2-C6EF-69B3-EBC0-F3BECE6632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24AEBCA-6ABE-1DFD-7AA8-A3B2F1B63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7AB913-EDAA-C746-870D-9B7877FA5A85}" type="slidenum">
              <a:rPr lang="en-US" smtClean="0"/>
              <a:t>‹#›</a:t>
            </a:fld>
            <a:endParaRPr lang="en-US"/>
          </a:p>
        </p:txBody>
      </p:sp>
    </p:spTree>
    <p:extLst>
      <p:ext uri="{BB962C8B-B14F-4D97-AF65-F5344CB8AC3E}">
        <p14:creationId xmlns:p14="http://schemas.microsoft.com/office/powerpoint/2010/main" val="10056905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2D4C33-E834-184F-A85B-4B1A7D742F82}" type="datetimeFigureOut">
              <a:rPr lang="en-US" smtClean="0"/>
              <a:t>8/25/26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EA2CD3-FB95-D94F-9F04-F9F995EAB822}" type="slidenum">
              <a:rPr lang="en-US" smtClean="0"/>
              <a:t>‹#›</a:t>
            </a:fld>
            <a:endParaRPr lang="en-US"/>
          </a:p>
        </p:txBody>
      </p:sp>
    </p:spTree>
    <p:extLst>
      <p:ext uri="{BB962C8B-B14F-4D97-AF65-F5344CB8AC3E}">
        <p14:creationId xmlns:p14="http://schemas.microsoft.com/office/powerpoint/2010/main" val="1818331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774460"/>
          </a:xfrm>
        </p:spPr>
        <p:txBody>
          <a:bodyPr/>
          <a:lstStyle/>
          <a:p>
            <a:pPr marL="0" indent="0">
              <a:lnSpc>
                <a:spcPct val="90000"/>
              </a:lnSpc>
              <a:spcBef>
                <a:spcPts val="1200"/>
              </a:spcBef>
              <a:spcAft>
                <a:spcPts val="60"/>
              </a:spcAft>
              <a:buFont typeface="Arial" panose="020B0604020202020204" pitchFamily="34" charset="0"/>
              <a:buNone/>
            </a:pPr>
            <a:endParaRPr lang="en-US" sz="1200" dirty="0">
              <a:latin typeface="Roboto" panose="02000000000000000000" pitchFamily="2" charset="0"/>
              <a:ea typeface="Roboto" panose="02000000000000000000" pitchFamily="2" charset="0"/>
            </a:endParaRPr>
          </a:p>
          <a:p>
            <a:pPr marL="171450" indent="-171450">
              <a:lnSpc>
                <a:spcPct val="90000"/>
              </a:lnSpc>
              <a:spcBef>
                <a:spcPts val="1200"/>
              </a:spcBef>
              <a:spcAft>
                <a:spcPts val="60"/>
              </a:spcAft>
              <a:buFont typeface="Arial" panose="020B0604020202020204" pitchFamily="34" charset="0"/>
              <a:buChar char="•"/>
            </a:pPr>
            <a:endParaRPr lang="en-US" sz="12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90000"/>
              </a:lnSpc>
              <a:spcBef>
                <a:spcPts val="1200"/>
              </a:spcBef>
              <a:spcAft>
                <a:spcPts val="60"/>
              </a:spcAft>
              <a:buClrTx/>
              <a:buSzTx/>
              <a:buFontTx/>
              <a:buNone/>
              <a:tabLst/>
              <a:defRPr/>
            </a:pPr>
            <a:endParaRPr lang="en-US" b="1" dirty="0">
              <a:latin typeface="Roboto" panose="02000000000000000000" pitchFamily="2" charset="0"/>
              <a:ea typeface="Roboto" panose="02000000000000000000" pitchFamily="2" charset="0"/>
            </a:endParaRPr>
          </a:p>
          <a:p>
            <a:pPr>
              <a:lnSpc>
                <a:spcPct val="90000"/>
              </a:lnSpc>
              <a:spcBef>
                <a:spcPts val="1200"/>
              </a:spcBef>
              <a:spcAft>
                <a:spcPts val="60"/>
              </a:spcAft>
              <a:buNone/>
            </a:pPr>
            <a:endParaRPr lang="en-US" dirty="0">
              <a:latin typeface="Roboto" panose="02000000000000000000" pitchFamily="2" charset="0"/>
              <a:ea typeface="Roboto" panose="02000000000000000000" pitchFamily="2" charset="0"/>
            </a:endParaRPr>
          </a:p>
          <a:p>
            <a:endParaRPr lang="en-US" dirty="0"/>
          </a:p>
        </p:txBody>
      </p:sp>
      <p:sp>
        <p:nvSpPr>
          <p:cNvPr id="4" name="Slide Number Placeholder 3"/>
          <p:cNvSpPr>
            <a:spLocks noGrp="1"/>
          </p:cNvSpPr>
          <p:nvPr>
            <p:ph type="sldNum" sz="quarter" idx="5"/>
          </p:nvPr>
        </p:nvSpPr>
        <p:spPr/>
        <p:txBody>
          <a:bodyPr/>
          <a:lstStyle/>
          <a:p>
            <a:fld id="{CEEA2CD3-FB95-D94F-9F04-F9F995EAB822}" type="slidenum">
              <a:rPr lang="en-US" smtClean="0"/>
              <a:t>1</a:t>
            </a:fld>
            <a:endParaRPr lang="en-US"/>
          </a:p>
        </p:txBody>
      </p:sp>
    </p:spTree>
    <p:extLst>
      <p:ext uri="{BB962C8B-B14F-4D97-AF65-F5344CB8AC3E}">
        <p14:creationId xmlns:p14="http://schemas.microsoft.com/office/powerpoint/2010/main" val="4034575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45097-CC2E-ABA4-AE52-52F6B890DC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42223-ABB3-359E-7ABD-C6B33CFE2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C41443-E731-49DB-5B46-61CE1FBFE3DD}"/>
              </a:ext>
            </a:extLst>
          </p:cNvPr>
          <p:cNvSpPr>
            <a:spLocks noGrp="1"/>
          </p:cNvSpPr>
          <p:nvPr>
            <p:ph type="body" idx="1"/>
          </p:nvPr>
        </p:nvSpPr>
        <p:spPr>
          <a:xfrm>
            <a:off x="685800" y="4400550"/>
            <a:ext cx="5486400" cy="3890010"/>
          </a:xfrm>
        </p:spPr>
        <p:txBody>
          <a:bodyPr/>
          <a:lstStyle/>
          <a:p>
            <a:pPr>
              <a:lnSpc>
                <a:spcPct val="90000"/>
              </a:lnSpc>
              <a:spcBef>
                <a:spcPts val="1200"/>
              </a:spcBef>
              <a:spcAft>
                <a:spcPts val="60"/>
              </a:spcAft>
            </a:pPr>
            <a:endParaRPr lang="en-US" sz="1200" dirty="0">
              <a:latin typeface="Roboto" panose="02000000000000000000" pitchFamily="2" charset="0"/>
              <a:ea typeface="Roboto" panose="02000000000000000000" pitchFamily="2" charset="0"/>
            </a:endParaRPr>
          </a:p>
        </p:txBody>
      </p:sp>
      <p:sp>
        <p:nvSpPr>
          <p:cNvPr id="4" name="Slide Number Placeholder 3">
            <a:extLst>
              <a:ext uri="{FF2B5EF4-FFF2-40B4-BE49-F238E27FC236}">
                <a16:creationId xmlns:a16="http://schemas.microsoft.com/office/drawing/2014/main" id="{0FF9A925-3CD1-96BC-73CC-D4EFD6BDCE9D}"/>
              </a:ext>
            </a:extLst>
          </p:cNvPr>
          <p:cNvSpPr>
            <a:spLocks noGrp="1"/>
          </p:cNvSpPr>
          <p:nvPr>
            <p:ph type="sldNum" sz="quarter" idx="5"/>
          </p:nvPr>
        </p:nvSpPr>
        <p:spPr/>
        <p:txBody>
          <a:bodyPr/>
          <a:lstStyle/>
          <a:p>
            <a:fld id="{CEEA2CD3-FB95-D94F-9F04-F9F995EAB822}" type="slidenum">
              <a:rPr lang="en-US" smtClean="0"/>
              <a:t>2</a:t>
            </a:fld>
            <a:endParaRPr lang="en-US"/>
          </a:p>
        </p:txBody>
      </p:sp>
    </p:spTree>
    <p:extLst>
      <p:ext uri="{BB962C8B-B14F-4D97-AF65-F5344CB8AC3E}">
        <p14:creationId xmlns:p14="http://schemas.microsoft.com/office/powerpoint/2010/main" val="1601620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B441A-4CAF-7C42-7E68-D9EA513EC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D484C-B861-22F1-E618-98941A84B5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95FDB0-B959-3EE6-C4D7-9261AC1A17D1}"/>
              </a:ext>
            </a:extLst>
          </p:cNvPr>
          <p:cNvSpPr>
            <a:spLocks noGrp="1"/>
          </p:cNvSpPr>
          <p:nvPr>
            <p:ph type="body" idx="1"/>
          </p:nvPr>
        </p:nvSpPr>
        <p:spPr>
          <a:xfrm>
            <a:off x="685800" y="4400550"/>
            <a:ext cx="5486400" cy="3890010"/>
          </a:xfrm>
        </p:spPr>
        <p:txBody>
          <a:bodyPr/>
          <a:lstStyle/>
          <a:p>
            <a:pPr>
              <a:lnSpc>
                <a:spcPct val="90000"/>
              </a:lnSpc>
              <a:spcBef>
                <a:spcPts val="1200"/>
              </a:spcBef>
              <a:spcAft>
                <a:spcPts val="60"/>
              </a:spcAft>
            </a:pPr>
            <a:endParaRPr lang="en-US" sz="1200" dirty="0">
              <a:latin typeface="Roboto" panose="02000000000000000000" pitchFamily="2" charset="0"/>
              <a:ea typeface="Roboto" panose="02000000000000000000" pitchFamily="2" charset="0"/>
            </a:endParaRPr>
          </a:p>
        </p:txBody>
      </p:sp>
      <p:sp>
        <p:nvSpPr>
          <p:cNvPr id="4" name="Slide Number Placeholder 3">
            <a:extLst>
              <a:ext uri="{FF2B5EF4-FFF2-40B4-BE49-F238E27FC236}">
                <a16:creationId xmlns:a16="http://schemas.microsoft.com/office/drawing/2014/main" id="{6EA3165F-9CD9-67B2-BF44-572509D48F11}"/>
              </a:ext>
            </a:extLst>
          </p:cNvPr>
          <p:cNvSpPr>
            <a:spLocks noGrp="1"/>
          </p:cNvSpPr>
          <p:nvPr>
            <p:ph type="sldNum" sz="quarter" idx="5"/>
          </p:nvPr>
        </p:nvSpPr>
        <p:spPr/>
        <p:txBody>
          <a:bodyPr/>
          <a:lstStyle/>
          <a:p>
            <a:fld id="{CEEA2CD3-FB95-D94F-9F04-F9F995EAB822}" type="slidenum">
              <a:rPr lang="en-US" smtClean="0"/>
              <a:t>3</a:t>
            </a:fld>
            <a:endParaRPr lang="en-US"/>
          </a:p>
        </p:txBody>
      </p:sp>
    </p:spTree>
    <p:extLst>
      <p:ext uri="{BB962C8B-B14F-4D97-AF65-F5344CB8AC3E}">
        <p14:creationId xmlns:p14="http://schemas.microsoft.com/office/powerpoint/2010/main" val="1505434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572CD-314A-2711-7FF7-7DECCF5EE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3AEC4-1EC0-3287-AF90-2BBFE3400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45161-DDA8-9FEA-3DD5-2320EE8E50A2}"/>
              </a:ext>
            </a:extLst>
          </p:cNvPr>
          <p:cNvSpPr>
            <a:spLocks noGrp="1"/>
          </p:cNvSpPr>
          <p:nvPr>
            <p:ph type="body" idx="1"/>
          </p:nvPr>
        </p:nvSpPr>
        <p:spPr>
          <a:xfrm>
            <a:off x="685800" y="4400550"/>
            <a:ext cx="5486400" cy="3890010"/>
          </a:xfrm>
        </p:spPr>
        <p:txBody>
          <a:bodyPr/>
          <a:lstStyle/>
          <a:p>
            <a:pPr>
              <a:lnSpc>
                <a:spcPct val="90000"/>
              </a:lnSpc>
              <a:spcBef>
                <a:spcPts val="1200"/>
              </a:spcBef>
              <a:spcAft>
                <a:spcPts val="60"/>
              </a:spcAft>
            </a:pPr>
            <a:endParaRPr lang="en-US" sz="1200" dirty="0">
              <a:latin typeface="Roboto" panose="02000000000000000000" pitchFamily="2" charset="0"/>
              <a:ea typeface="Roboto" panose="02000000000000000000" pitchFamily="2" charset="0"/>
            </a:endParaRPr>
          </a:p>
        </p:txBody>
      </p:sp>
      <p:sp>
        <p:nvSpPr>
          <p:cNvPr id="4" name="Slide Number Placeholder 3">
            <a:extLst>
              <a:ext uri="{FF2B5EF4-FFF2-40B4-BE49-F238E27FC236}">
                <a16:creationId xmlns:a16="http://schemas.microsoft.com/office/drawing/2014/main" id="{634B51AB-75B9-23F4-EE07-2FB64A4A4A00}"/>
              </a:ext>
            </a:extLst>
          </p:cNvPr>
          <p:cNvSpPr>
            <a:spLocks noGrp="1"/>
          </p:cNvSpPr>
          <p:nvPr>
            <p:ph type="sldNum" sz="quarter" idx="5"/>
          </p:nvPr>
        </p:nvSpPr>
        <p:spPr/>
        <p:txBody>
          <a:bodyPr/>
          <a:lstStyle/>
          <a:p>
            <a:fld id="{CEEA2CD3-FB95-D94F-9F04-F9F995EAB822}" type="slidenum">
              <a:rPr lang="en-US" smtClean="0"/>
              <a:t>4</a:t>
            </a:fld>
            <a:endParaRPr lang="en-US"/>
          </a:p>
        </p:txBody>
      </p:sp>
    </p:spTree>
    <p:extLst>
      <p:ext uri="{BB962C8B-B14F-4D97-AF65-F5344CB8AC3E}">
        <p14:creationId xmlns:p14="http://schemas.microsoft.com/office/powerpoint/2010/main" val="1425799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6993B-03E7-D463-BB4B-505DA398E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4C4BE-4081-79FA-C14A-72E05E027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FA0561-25FF-C17E-2621-D21D2788208F}"/>
              </a:ext>
            </a:extLst>
          </p:cNvPr>
          <p:cNvSpPr>
            <a:spLocks noGrp="1"/>
          </p:cNvSpPr>
          <p:nvPr>
            <p:ph type="body" idx="1"/>
          </p:nvPr>
        </p:nvSpPr>
        <p:spPr>
          <a:xfrm>
            <a:off x="685800" y="4400550"/>
            <a:ext cx="5486400" cy="3890010"/>
          </a:xfrm>
        </p:spPr>
        <p:txBody>
          <a:bodyPr/>
          <a:lstStyle/>
          <a:p>
            <a:pPr>
              <a:lnSpc>
                <a:spcPct val="90000"/>
              </a:lnSpc>
              <a:spcBef>
                <a:spcPts val="1200"/>
              </a:spcBef>
              <a:spcAft>
                <a:spcPts val="60"/>
              </a:spcAft>
            </a:pPr>
            <a:endParaRPr lang="en-US" sz="1200" dirty="0">
              <a:latin typeface="Roboto" panose="02000000000000000000" pitchFamily="2" charset="0"/>
              <a:ea typeface="Roboto" panose="02000000000000000000" pitchFamily="2" charset="0"/>
            </a:endParaRPr>
          </a:p>
        </p:txBody>
      </p:sp>
      <p:sp>
        <p:nvSpPr>
          <p:cNvPr id="4" name="Slide Number Placeholder 3">
            <a:extLst>
              <a:ext uri="{FF2B5EF4-FFF2-40B4-BE49-F238E27FC236}">
                <a16:creationId xmlns:a16="http://schemas.microsoft.com/office/drawing/2014/main" id="{22DB1B37-24D5-DDF0-C2B5-39B79BB2F147}"/>
              </a:ext>
            </a:extLst>
          </p:cNvPr>
          <p:cNvSpPr>
            <a:spLocks noGrp="1"/>
          </p:cNvSpPr>
          <p:nvPr>
            <p:ph type="sldNum" sz="quarter" idx="5"/>
          </p:nvPr>
        </p:nvSpPr>
        <p:spPr/>
        <p:txBody>
          <a:bodyPr/>
          <a:lstStyle/>
          <a:p>
            <a:fld id="{CEEA2CD3-FB95-D94F-9F04-F9F995EAB822}" type="slidenum">
              <a:rPr lang="en-US" smtClean="0"/>
              <a:t>5</a:t>
            </a:fld>
            <a:endParaRPr lang="en-US"/>
          </a:p>
        </p:txBody>
      </p:sp>
    </p:spTree>
    <p:extLst>
      <p:ext uri="{BB962C8B-B14F-4D97-AF65-F5344CB8AC3E}">
        <p14:creationId xmlns:p14="http://schemas.microsoft.com/office/powerpoint/2010/main" val="2612718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NScD-A">
    <p:spTree>
      <p:nvGrpSpPr>
        <p:cNvPr id="1" name=""/>
        <p:cNvGrpSpPr/>
        <p:nvPr/>
      </p:nvGrpSpPr>
      <p:grpSpPr>
        <a:xfrm>
          <a:off x="0" y="0"/>
          <a:ext cx="0" cy="0"/>
          <a:chOff x="0" y="0"/>
          <a:chExt cx="0" cy="0"/>
        </a:xfrm>
      </p:grpSpPr>
      <p:pic>
        <p:nvPicPr>
          <p:cNvPr id="8" name="Picture 7" descr="2021-P09584: Aerial overview of the Spallation Neutron Source, SNS, and the future location for the SNS Second Target Station, September 30, 2021.  This image has been reviewed by an ORNL Releasing Official and is approved for public release, September 26, 2022.&#10;">
            <a:extLst>
              <a:ext uri="{FF2B5EF4-FFF2-40B4-BE49-F238E27FC236}">
                <a16:creationId xmlns:a16="http://schemas.microsoft.com/office/drawing/2014/main" id="{1F4AB3B7-A3C1-1F45-C20A-589E7847F1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CA49EAE8-262C-D20D-80FF-4279961B7DBA}"/>
              </a:ext>
            </a:extLst>
          </p:cNvPr>
          <p:cNvSpPr/>
          <p:nvPr userDrawn="1"/>
        </p:nvSpPr>
        <p:spPr>
          <a:xfrm>
            <a:off x="896615" y="843778"/>
            <a:ext cx="5199385" cy="5199385"/>
          </a:xfrm>
          <a:prstGeom prst="rect">
            <a:avLst/>
          </a:prstGeom>
          <a:solidFill>
            <a:schemeClr val="bg1">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Roboto" panose="02000000000000000000" pitchFamily="2" charset="0"/>
              <a:ea typeface="Roboto" panose="02000000000000000000" pitchFamily="2" charset="0"/>
            </a:endParaRPr>
          </a:p>
        </p:txBody>
      </p:sp>
      <p:sp>
        <p:nvSpPr>
          <p:cNvPr id="1989" name="Title 1">
            <a:extLst>
              <a:ext uri="{FF2B5EF4-FFF2-40B4-BE49-F238E27FC236}">
                <a16:creationId xmlns:a16="http://schemas.microsoft.com/office/drawing/2014/main" id="{4E63AC8A-1BE4-CC0D-A87D-57B11478230B}"/>
              </a:ext>
            </a:extLst>
          </p:cNvPr>
          <p:cNvSpPr>
            <a:spLocks noGrp="1"/>
          </p:cNvSpPr>
          <p:nvPr>
            <p:ph type="ctrTitle" hasCustomPrompt="1"/>
          </p:nvPr>
        </p:nvSpPr>
        <p:spPr>
          <a:xfrm>
            <a:off x="1215450" y="2254309"/>
            <a:ext cx="4517136" cy="997196"/>
          </a:xfrm>
        </p:spPr>
        <p:txBody>
          <a:bodyPr wrap="square" anchor="t" anchorCtr="0">
            <a:noAutofit/>
          </a:bodyPr>
          <a:lstStyle>
            <a:lvl1pPr algn="l">
              <a:spcBef>
                <a:spcPts val="1200"/>
              </a:spcBef>
              <a:spcAft>
                <a:spcPts val="60"/>
              </a:spcAft>
              <a:defRPr sz="3600" b="1">
                <a:solidFill>
                  <a:schemeClr val="tx1"/>
                </a:solidFill>
              </a:defRPr>
            </a:lvl1pPr>
          </a:lstStyle>
          <a:p>
            <a:r>
              <a:rPr lang="en-US" dirty="0"/>
              <a:t>Presentation Title (Text size no larger than 32pt)</a:t>
            </a:r>
          </a:p>
        </p:txBody>
      </p:sp>
      <p:sp>
        <p:nvSpPr>
          <p:cNvPr id="1990" name="Subtitle 2">
            <a:extLst>
              <a:ext uri="{FF2B5EF4-FFF2-40B4-BE49-F238E27FC236}">
                <a16:creationId xmlns:a16="http://schemas.microsoft.com/office/drawing/2014/main" id="{2FDEC7A3-8D58-3E27-DFCC-68F1F758C82C}"/>
              </a:ext>
            </a:extLst>
          </p:cNvPr>
          <p:cNvSpPr>
            <a:spLocks noGrp="1"/>
          </p:cNvSpPr>
          <p:nvPr>
            <p:ph type="subTitle" idx="1" hasCustomPrompt="1"/>
          </p:nvPr>
        </p:nvSpPr>
        <p:spPr>
          <a:xfrm>
            <a:off x="1215450" y="4031052"/>
            <a:ext cx="4517136" cy="193899"/>
          </a:xfrm>
        </p:spPr>
        <p:txBody>
          <a:bodyPr wrap="square" anchor="t" anchorCtr="0">
            <a:noAutofit/>
          </a:bodyPr>
          <a:lstStyle>
            <a:lvl1pPr marL="0" indent="0" algn="l">
              <a:spcBef>
                <a:spcPts val="1200"/>
              </a:spcBef>
              <a:spcAft>
                <a:spcPts val="60"/>
              </a:spcAft>
              <a:buNone/>
              <a:defRPr sz="1400" b="1" spc="15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PRESENTED BY</a:t>
            </a:r>
          </a:p>
        </p:txBody>
      </p:sp>
      <p:sp>
        <p:nvSpPr>
          <p:cNvPr id="1991" name="Text Placeholder 1961">
            <a:extLst>
              <a:ext uri="{FF2B5EF4-FFF2-40B4-BE49-F238E27FC236}">
                <a16:creationId xmlns:a16="http://schemas.microsoft.com/office/drawing/2014/main" id="{F290C317-5693-2190-DC6C-B1FBB50E65B2}"/>
              </a:ext>
            </a:extLst>
          </p:cNvPr>
          <p:cNvSpPr>
            <a:spLocks noGrp="1"/>
          </p:cNvSpPr>
          <p:nvPr>
            <p:ph type="body" sz="quarter" idx="14" hasCustomPrompt="1"/>
          </p:nvPr>
        </p:nvSpPr>
        <p:spPr>
          <a:xfrm>
            <a:off x="1215450" y="1934670"/>
            <a:ext cx="4517136" cy="193899"/>
          </a:xfrm>
        </p:spPr>
        <p:txBody>
          <a:bodyPr wrap="square" anchor="t" anchorCtr="0">
            <a:noAutofit/>
          </a:bodyPr>
          <a:lstStyle>
            <a:lvl1pPr marL="0" indent="0" algn="l">
              <a:spcBef>
                <a:spcPts val="1200"/>
              </a:spcBef>
              <a:spcAft>
                <a:spcPts val="60"/>
              </a:spcAft>
              <a:buNone/>
              <a:defRPr sz="1400" b="0" i="0" spc="150" baseline="0">
                <a:solidFill>
                  <a:schemeClr val="tx1"/>
                </a:solidFill>
                <a:latin typeface="+mn-lt"/>
                <a:ea typeface="Roboto Light" panose="02000000000000000000" pitchFamily="2" charset="0"/>
              </a:defRPr>
            </a:lvl1pPr>
            <a:lvl2pPr marL="457200" indent="0" algn="ctr">
              <a:buNone/>
              <a:defRPr sz="1400">
                <a:solidFill>
                  <a:schemeClr val="bg1"/>
                </a:solidFill>
              </a:defRPr>
            </a:lvl2pPr>
            <a:lvl3pPr marL="914400" indent="0" algn="ctr">
              <a:buNone/>
              <a:defRPr sz="1400">
                <a:solidFill>
                  <a:schemeClr val="bg1"/>
                </a:solidFill>
              </a:defRPr>
            </a:lvl3pPr>
            <a:lvl4pPr marL="1371600" indent="0" algn="ctr">
              <a:buNone/>
              <a:defRPr sz="1400">
                <a:solidFill>
                  <a:schemeClr val="bg1"/>
                </a:solidFill>
              </a:defRPr>
            </a:lvl4pPr>
            <a:lvl5pPr marL="1828800" indent="0" algn="ctr">
              <a:buNone/>
              <a:defRPr sz="1400">
                <a:solidFill>
                  <a:schemeClr val="bg1"/>
                </a:solidFill>
              </a:defRPr>
            </a:lvl5pPr>
          </a:lstStyle>
          <a:p>
            <a:pPr lvl="0"/>
            <a:r>
              <a:rPr lang="en-US" dirty="0"/>
              <a:t>MONTH XX, XXXX | LOCATION</a:t>
            </a:r>
          </a:p>
        </p:txBody>
      </p:sp>
      <p:sp>
        <p:nvSpPr>
          <p:cNvPr id="1992" name="Text Placeholder 1963">
            <a:extLst>
              <a:ext uri="{FF2B5EF4-FFF2-40B4-BE49-F238E27FC236}">
                <a16:creationId xmlns:a16="http://schemas.microsoft.com/office/drawing/2014/main" id="{69307D98-0D2A-6367-B886-8BC3DE78A926}"/>
              </a:ext>
            </a:extLst>
          </p:cNvPr>
          <p:cNvSpPr>
            <a:spLocks noGrp="1"/>
          </p:cNvSpPr>
          <p:nvPr>
            <p:ph type="body" sz="quarter" idx="15" hasCustomPrompt="1"/>
          </p:nvPr>
        </p:nvSpPr>
        <p:spPr>
          <a:xfrm>
            <a:off x="1215450" y="4383195"/>
            <a:ext cx="4517136" cy="332399"/>
          </a:xfrm>
        </p:spPr>
        <p:txBody>
          <a:bodyPr wrap="square" anchor="t" anchorCtr="0">
            <a:noAutofit/>
          </a:bodyPr>
          <a:lstStyle>
            <a:lvl1pPr marL="0" indent="0" algn="l">
              <a:spcBef>
                <a:spcPts val="1200"/>
              </a:spcBef>
              <a:spcAft>
                <a:spcPts val="60"/>
              </a:spcAft>
              <a:buNone/>
              <a:defRPr sz="2400" b="0" i="0">
                <a:solidFill>
                  <a:schemeClr val="tx1"/>
                </a:solidFill>
                <a:latin typeface="Roboto Light" panose="02000000000000000000" pitchFamily="2" charset="0"/>
                <a:ea typeface="Roboto Light" panose="02000000000000000000" pitchFamily="2" charset="0"/>
              </a:defRPr>
            </a:lvl1pPr>
            <a:lvl2pPr marL="457200" indent="0" algn="ctr">
              <a:buNone/>
              <a:defRPr sz="2400">
                <a:solidFill>
                  <a:schemeClr val="bg1"/>
                </a:solidFill>
              </a:defRPr>
            </a:lvl2pPr>
            <a:lvl3pPr marL="914400" indent="0" algn="ctr">
              <a:buNone/>
              <a:defRPr sz="2400">
                <a:solidFill>
                  <a:schemeClr val="bg1"/>
                </a:solidFill>
              </a:defRPr>
            </a:lvl3pPr>
            <a:lvl4pPr marL="1371600" indent="0" algn="ctr">
              <a:buNone/>
              <a:defRPr sz="2400">
                <a:solidFill>
                  <a:schemeClr val="bg1"/>
                </a:solidFill>
              </a:defRPr>
            </a:lvl4pPr>
            <a:lvl5pPr marL="1828800" indent="0" algn="ctr">
              <a:buNone/>
              <a:defRPr sz="2400">
                <a:solidFill>
                  <a:schemeClr val="bg1"/>
                </a:solidFill>
              </a:defRPr>
            </a:lvl5pPr>
          </a:lstStyle>
          <a:p>
            <a:pPr lvl="0"/>
            <a:r>
              <a:rPr lang="en-US" dirty="0"/>
              <a:t>First Name, Last Name</a:t>
            </a:r>
          </a:p>
        </p:txBody>
      </p:sp>
      <p:sp>
        <p:nvSpPr>
          <p:cNvPr id="1993" name="Rectangle 1992">
            <a:extLst>
              <a:ext uri="{FF2B5EF4-FFF2-40B4-BE49-F238E27FC236}">
                <a16:creationId xmlns:a16="http://schemas.microsoft.com/office/drawing/2014/main" id="{75F67FD0-9510-D988-3837-38FD99E6DD28}"/>
              </a:ext>
            </a:extLst>
          </p:cNvPr>
          <p:cNvSpPr/>
          <p:nvPr userDrawn="1"/>
        </p:nvSpPr>
        <p:spPr>
          <a:xfrm>
            <a:off x="1215450" y="3780792"/>
            <a:ext cx="854364" cy="7191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74748"/>
              </a:solidFill>
            </a:endParaRPr>
          </a:p>
        </p:txBody>
      </p:sp>
      <p:sp>
        <p:nvSpPr>
          <p:cNvPr id="1994" name="Text Placeholder 47">
            <a:extLst>
              <a:ext uri="{FF2B5EF4-FFF2-40B4-BE49-F238E27FC236}">
                <a16:creationId xmlns:a16="http://schemas.microsoft.com/office/drawing/2014/main" id="{CE691B96-E32E-F7AA-D0A1-ACAFF2C96FA9}"/>
              </a:ext>
            </a:extLst>
          </p:cNvPr>
          <p:cNvSpPr>
            <a:spLocks noGrp="1"/>
          </p:cNvSpPr>
          <p:nvPr>
            <p:ph type="body" sz="quarter" idx="17" hasCustomPrompt="1"/>
          </p:nvPr>
        </p:nvSpPr>
        <p:spPr>
          <a:xfrm>
            <a:off x="1215450" y="4798918"/>
            <a:ext cx="4517136" cy="246221"/>
          </a:xfrm>
        </p:spPr>
        <p:txBody>
          <a:bodyPr wrap="square" anchor="t" anchorCtr="0">
            <a:noAutofit/>
          </a:bodyPr>
          <a:lstStyle>
            <a:lvl1pPr marL="0" indent="0" algn="l">
              <a:lnSpc>
                <a:spcPct val="100000"/>
              </a:lnSpc>
              <a:spcBef>
                <a:spcPts val="1200"/>
              </a:spcBef>
              <a:spcAft>
                <a:spcPts val="60"/>
              </a:spcAft>
              <a:buNone/>
              <a:defRPr sz="1600" b="0" i="0">
                <a:solidFill>
                  <a:schemeClr val="tx1"/>
                </a:solidFill>
                <a:latin typeface="+mn-lt"/>
                <a:ea typeface="Roboto Light" panose="02000000000000000000" pitchFamily="2" charset="0"/>
              </a:defRPr>
            </a:lvl1pPr>
            <a:lvl2pPr marL="457200" indent="0" algn="ctr">
              <a:buNone/>
              <a:defRPr sz="1600" b="0" i="0">
                <a:solidFill>
                  <a:schemeClr val="bg1"/>
                </a:solidFill>
                <a:latin typeface="Roboto Light" panose="02000000000000000000" pitchFamily="2" charset="0"/>
                <a:ea typeface="Roboto Light" panose="02000000000000000000" pitchFamily="2" charset="0"/>
              </a:defRPr>
            </a:lvl2pPr>
            <a:lvl3pPr marL="914400" indent="0" algn="ctr">
              <a:buNone/>
              <a:defRPr sz="1600" b="0" i="0">
                <a:solidFill>
                  <a:schemeClr val="bg1"/>
                </a:solidFill>
                <a:latin typeface="Roboto Light" panose="02000000000000000000" pitchFamily="2" charset="0"/>
                <a:ea typeface="Roboto Light" panose="02000000000000000000" pitchFamily="2" charset="0"/>
              </a:defRPr>
            </a:lvl3pPr>
            <a:lvl4pPr marL="1371600" indent="0" algn="ctr">
              <a:buNone/>
              <a:defRPr sz="1600" b="0" i="0">
                <a:solidFill>
                  <a:schemeClr val="bg1"/>
                </a:solidFill>
                <a:latin typeface="Roboto Light" panose="02000000000000000000" pitchFamily="2" charset="0"/>
                <a:ea typeface="Roboto Light" panose="02000000000000000000" pitchFamily="2" charset="0"/>
              </a:defRPr>
            </a:lvl4pPr>
            <a:lvl5pPr marL="1828800" indent="0" algn="ctr">
              <a:buNone/>
              <a:defRPr sz="1600" b="0" i="0">
                <a:solidFill>
                  <a:schemeClr val="bg1"/>
                </a:solidFill>
                <a:latin typeface="Roboto Light" panose="02000000000000000000" pitchFamily="2" charset="0"/>
                <a:ea typeface="Roboto Light" panose="02000000000000000000" pitchFamily="2" charset="0"/>
              </a:defRPr>
            </a:lvl5pPr>
          </a:lstStyle>
          <a:p>
            <a:pPr lvl="0"/>
            <a:r>
              <a:rPr lang="en-US" dirty="0"/>
              <a:t>Presenter Affiliation</a:t>
            </a:r>
          </a:p>
        </p:txBody>
      </p:sp>
      <p:pic>
        <p:nvPicPr>
          <p:cNvPr id="5" name="Graphic 4">
            <a:extLst>
              <a:ext uri="{FF2B5EF4-FFF2-40B4-BE49-F238E27FC236}">
                <a16:creationId xmlns:a16="http://schemas.microsoft.com/office/drawing/2014/main" id="{31D47623-818A-705B-B821-F058B0BC952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228108" y="1141396"/>
            <a:ext cx="1780479" cy="428014"/>
          </a:xfrm>
          <a:prstGeom prst="rect">
            <a:avLst/>
          </a:prstGeom>
        </p:spPr>
      </p:pic>
      <p:grpSp>
        <p:nvGrpSpPr>
          <p:cNvPr id="4" name="Group 3">
            <a:extLst>
              <a:ext uri="{FF2B5EF4-FFF2-40B4-BE49-F238E27FC236}">
                <a16:creationId xmlns:a16="http://schemas.microsoft.com/office/drawing/2014/main" id="{989A2CD0-329A-AD66-9E82-A1DB6C6F93A4}"/>
              </a:ext>
            </a:extLst>
          </p:cNvPr>
          <p:cNvGrpSpPr/>
          <p:nvPr userDrawn="1"/>
        </p:nvGrpSpPr>
        <p:grpSpPr>
          <a:xfrm>
            <a:off x="1177351" y="5301081"/>
            <a:ext cx="4558967" cy="438406"/>
            <a:chOff x="1177351" y="5301081"/>
            <a:chExt cx="4558967" cy="438406"/>
          </a:xfrm>
        </p:grpSpPr>
        <p:sp>
          <p:nvSpPr>
            <p:cNvPr id="6" name="TextBox 5">
              <a:extLst>
                <a:ext uri="{FF2B5EF4-FFF2-40B4-BE49-F238E27FC236}">
                  <a16:creationId xmlns:a16="http://schemas.microsoft.com/office/drawing/2014/main" id="{18CD3442-F157-B130-4C8C-C1C6563CA624}"/>
                </a:ext>
              </a:extLst>
            </p:cNvPr>
            <p:cNvSpPr txBox="1"/>
            <p:nvPr userDrawn="1"/>
          </p:nvSpPr>
          <p:spPr>
            <a:xfrm>
              <a:off x="2688336" y="5344755"/>
              <a:ext cx="3047982" cy="369332"/>
            </a:xfrm>
            <a:prstGeom prst="rect">
              <a:avLst/>
            </a:prstGeom>
            <a:noFill/>
          </p:spPr>
          <p:txBody>
            <a:bodyPr wrap="square" lIns="182880" rtlCol="0">
              <a:spAutoFit/>
            </a:bodyPr>
            <a:lstStyle/>
            <a:p>
              <a:r>
                <a:rPr lang="en-US" sz="900" b="0" dirty="0">
                  <a:solidFill>
                    <a:schemeClr val="tx1"/>
                  </a:solidFill>
                  <a:latin typeface="Roboto" panose="02000000000000000000" pitchFamily="2" charset="0"/>
                  <a:ea typeface="Roboto" panose="02000000000000000000" pitchFamily="2" charset="0"/>
                </a:rPr>
                <a:t>ORNL IS MANAGED BY UT-BATTELLE LLC </a:t>
              </a:r>
              <a:br>
                <a:rPr lang="en-US" sz="900" b="0" dirty="0">
                  <a:solidFill>
                    <a:schemeClr val="tx1"/>
                  </a:solidFill>
                  <a:latin typeface="Roboto" panose="02000000000000000000" pitchFamily="2" charset="0"/>
                  <a:ea typeface="Roboto" panose="02000000000000000000" pitchFamily="2" charset="0"/>
                </a:rPr>
              </a:br>
              <a:r>
                <a:rPr lang="en-US" sz="900" b="0" dirty="0">
                  <a:solidFill>
                    <a:schemeClr val="tx1"/>
                  </a:solidFill>
                  <a:latin typeface="Roboto" panose="02000000000000000000" pitchFamily="2" charset="0"/>
                  <a:ea typeface="Roboto" panose="02000000000000000000" pitchFamily="2" charset="0"/>
                </a:rPr>
                <a:t>FOR THE US DEPARTMENT OF ENERGY</a:t>
              </a:r>
            </a:p>
          </p:txBody>
        </p:sp>
        <p:pic>
          <p:nvPicPr>
            <p:cNvPr id="7" name="Picture 6" descr="Shape&#10;&#10;AI-generated content may be incorrect.">
              <a:extLst>
                <a:ext uri="{FF2B5EF4-FFF2-40B4-BE49-F238E27FC236}">
                  <a16:creationId xmlns:a16="http://schemas.microsoft.com/office/drawing/2014/main" id="{442A6DA9-8C3C-81D4-6B8A-D16A90DD9BD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7351" y="5301081"/>
              <a:ext cx="1526303" cy="438406"/>
            </a:xfrm>
            <a:prstGeom prst="rect">
              <a:avLst/>
            </a:prstGeom>
          </p:spPr>
        </p:pic>
      </p:grpSp>
    </p:spTree>
    <p:extLst>
      <p:ext uri="{BB962C8B-B14F-4D97-AF65-F5344CB8AC3E}">
        <p14:creationId xmlns:p14="http://schemas.microsoft.com/office/powerpoint/2010/main" val="2983338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05791-4F91-34B2-5F77-014A7A421E14}"/>
              </a:ext>
            </a:extLst>
          </p:cNvPr>
          <p:cNvSpPr>
            <a:spLocks noGrp="1"/>
          </p:cNvSpPr>
          <p:nvPr>
            <p:ph type="title" hasCustomPrompt="1"/>
          </p:nvPr>
        </p:nvSpPr>
        <p:spPr>
          <a:xfrm>
            <a:off x="314692" y="365125"/>
            <a:ext cx="11492432" cy="886397"/>
          </a:xfrm>
        </p:spPr>
        <p:txBody>
          <a:bodyPr/>
          <a:lstStyle/>
          <a:p>
            <a:r>
              <a:rPr lang="en-US" dirty="0"/>
              <a:t>One-sentence headline stating the main takeaway message</a:t>
            </a:r>
          </a:p>
        </p:txBody>
      </p:sp>
      <p:sp>
        <p:nvSpPr>
          <p:cNvPr id="3" name="Content Placeholder 2">
            <a:extLst>
              <a:ext uri="{FF2B5EF4-FFF2-40B4-BE49-F238E27FC236}">
                <a16:creationId xmlns:a16="http://schemas.microsoft.com/office/drawing/2014/main" id="{1268E7B4-2380-B18C-C8C1-09BD437D6B16}"/>
              </a:ext>
            </a:extLst>
          </p:cNvPr>
          <p:cNvSpPr>
            <a:spLocks noGrp="1"/>
          </p:cNvSpPr>
          <p:nvPr>
            <p:ph idx="1" hasCustomPrompt="1"/>
          </p:nvPr>
        </p:nvSpPr>
        <p:spPr>
          <a:xfrm>
            <a:off x="314692" y="1825625"/>
            <a:ext cx="11492432" cy="4061829"/>
          </a:xfrm>
        </p:spPr>
        <p:txBody>
          <a:bodyPr/>
          <a:lstStyle>
            <a:lvl1pPr marL="0" indent="0">
              <a:spcBef>
                <a:spcPts val="1200"/>
              </a:spcBef>
              <a:buNone/>
              <a:defRPr sz="1800"/>
            </a:lvl1pPr>
          </a:lstStyle>
          <a:p>
            <a:r>
              <a:rPr lang="en-US" dirty="0"/>
              <a:t>Place content here</a:t>
            </a:r>
          </a:p>
        </p:txBody>
      </p:sp>
    </p:spTree>
    <p:extLst>
      <p:ext uri="{BB962C8B-B14F-4D97-AF65-F5344CB8AC3E}">
        <p14:creationId xmlns:p14="http://schemas.microsoft.com/office/powerpoint/2010/main" val="9002390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4753CB-6476-BF2C-3CDC-FAB102C713EC}"/>
              </a:ext>
            </a:extLst>
          </p:cNvPr>
          <p:cNvSpPr>
            <a:spLocks noGrp="1"/>
          </p:cNvSpPr>
          <p:nvPr>
            <p:ph type="title"/>
          </p:nvPr>
        </p:nvSpPr>
        <p:spPr>
          <a:xfrm>
            <a:off x="314692" y="365125"/>
            <a:ext cx="11492432" cy="443198"/>
          </a:xfrm>
          <a:prstGeom prst="rect">
            <a:avLst/>
          </a:prstGeom>
        </p:spPr>
        <p:txBody>
          <a:bodyPr vert="horz" wrap="square" lIns="0" tIns="0" rIns="0" bIns="0" rtlCol="0" anchor="t" anchorCtr="0">
            <a:no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77933DD6-9940-13F2-ECB0-187773310927}"/>
              </a:ext>
            </a:extLst>
          </p:cNvPr>
          <p:cNvSpPr>
            <a:spLocks noGrp="1"/>
          </p:cNvSpPr>
          <p:nvPr>
            <p:ph type="body" idx="1"/>
          </p:nvPr>
        </p:nvSpPr>
        <p:spPr>
          <a:xfrm>
            <a:off x="314692" y="1817556"/>
            <a:ext cx="11492432" cy="4020554"/>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0" name="Rectangle 6">
            <a:extLst>
              <a:ext uri="{FF2B5EF4-FFF2-40B4-BE49-F238E27FC236}">
                <a16:creationId xmlns:a16="http://schemas.microsoft.com/office/drawing/2014/main" id="{25FC33D5-6A3D-626E-929B-EDEF84A7F09B}"/>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100" b="1" smtClean="0">
                <a:solidFill>
                  <a:schemeClr val="bg2"/>
                </a:solidFill>
                <a:latin typeface="Roboto" panose="02000000000000000000" pitchFamily="2" charset="0"/>
                <a:ea typeface="Roboto" panose="02000000000000000000" pitchFamily="2" charset="0"/>
                <a:cs typeface="Times New Roman" panose="02020603050405020304" pitchFamily="18" charset="0"/>
              </a:rPr>
              <a:pPr algn="ctr" defTabSz="173038">
                <a:lnSpc>
                  <a:spcPct val="90000"/>
                </a:lnSpc>
                <a:tabLst>
                  <a:tab pos="230188" algn="l"/>
                </a:tabLst>
                <a:defRPr/>
              </a:pPr>
              <a:t>‹#›</a:t>
            </a:fld>
            <a:endParaRPr lang="en-US" sz="1100" b="1" dirty="0">
              <a:solidFill>
                <a:schemeClr val="bg2"/>
              </a:solidFill>
              <a:latin typeface="Roboto" panose="02000000000000000000" pitchFamily="2" charset="0"/>
              <a:ea typeface="Roboto" panose="02000000000000000000" pitchFamily="2" charset="0"/>
              <a:cs typeface="Times New Roman" panose="02020603050405020304" pitchFamily="18" charset="0"/>
            </a:endParaRPr>
          </a:p>
        </p:txBody>
      </p:sp>
      <p:sp>
        <p:nvSpPr>
          <p:cNvPr id="41" name="Rectangle 256">
            <a:extLst>
              <a:ext uri="{FF2B5EF4-FFF2-40B4-BE49-F238E27FC236}">
                <a16:creationId xmlns:a16="http://schemas.microsoft.com/office/drawing/2014/main" id="{DF5E4726-94A1-FED7-677B-96B372546603}"/>
              </a:ext>
            </a:extLst>
          </p:cNvPr>
          <p:cNvSpPr txBox="1">
            <a:spLocks noChangeArrowheads="1"/>
          </p:cNvSpPr>
          <p:nvPr userDrawn="1"/>
        </p:nvSpPr>
        <p:spPr>
          <a:xfrm>
            <a:off x="7599464" y="6576851"/>
            <a:ext cx="3860800" cy="152400"/>
          </a:xfrm>
          <a:prstGeom prst="rect">
            <a:avLst/>
          </a:prstGeom>
          <a:ln/>
        </p:spPr>
        <p:txBody>
          <a:bodyPr anchor="ctr"/>
          <a:lstStyle/>
          <a:p>
            <a:pPr algn="r"/>
            <a:r>
              <a:rPr lang="en-US" sz="1000" dirty="0">
                <a:solidFill>
                  <a:schemeClr val="bg2"/>
                </a:solidFill>
                <a:latin typeface="Roboto" panose="02000000000000000000" pitchFamily="2" charset="0"/>
                <a:ea typeface="Roboto" panose="02000000000000000000" pitchFamily="2" charset="0"/>
                <a:cs typeface="Arial" pitchFamily="34" charset="0"/>
              </a:rPr>
              <a:t> </a:t>
            </a:r>
          </a:p>
        </p:txBody>
      </p:sp>
      <p:pic>
        <p:nvPicPr>
          <p:cNvPr id="4" name="Graphic 3">
            <a:extLst>
              <a:ext uri="{FF2B5EF4-FFF2-40B4-BE49-F238E27FC236}">
                <a16:creationId xmlns:a16="http://schemas.microsoft.com/office/drawing/2014/main" id="{54E8AFC4-0CE6-E93B-9E8C-DB368BD3C3D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14693" y="6431818"/>
            <a:ext cx="1188988" cy="285824"/>
          </a:xfrm>
          <a:prstGeom prst="rect">
            <a:avLst/>
          </a:prstGeom>
        </p:spPr>
      </p:pic>
    </p:spTree>
    <p:extLst>
      <p:ext uri="{BB962C8B-B14F-4D97-AF65-F5344CB8AC3E}">
        <p14:creationId xmlns:p14="http://schemas.microsoft.com/office/powerpoint/2010/main" val="2196214776"/>
      </p:ext>
    </p:extLst>
  </p:cSld>
  <p:clrMap bg1="lt1" tx1="dk1" bg2="lt2" tx2="dk2" accent1="accent1" accent2="accent2" accent3="accent3" accent4="accent4" accent5="accent5" accent6="accent6" hlink="hlink" folHlink="folHlink"/>
  <p:sldLayoutIdLst>
    <p:sldLayoutId id="2147483960" r:id="rId1"/>
    <p:sldLayoutId id="2147483832" r:id="rId2"/>
  </p:sldLayoutIdLst>
  <p:hf hdr="0" dt="0"/>
  <p:txStyles>
    <p:titleStyle>
      <a:lvl1pPr algn="l" defTabSz="914400" rtl="0" eaLnBrk="1" latinLnBrk="0" hangingPunct="1">
        <a:lnSpc>
          <a:spcPct val="90000"/>
        </a:lnSpc>
        <a:spcBef>
          <a:spcPct val="0"/>
        </a:spcBef>
        <a:buNone/>
        <a:defRPr sz="3200" b="1" kern="1200">
          <a:solidFill>
            <a:schemeClr val="tx1"/>
          </a:solidFill>
          <a:latin typeface="Roboto" panose="02000000000000000000" pitchFamily="2" charset="0"/>
          <a:ea typeface="Roboto" panose="02000000000000000000" pitchFamily="2" charset="0"/>
          <a:cs typeface="+mj-cs"/>
        </a:defRPr>
      </a:lvl1pPr>
    </p:titleStyle>
    <p:bodyStyle>
      <a:lvl1pPr marL="0" indent="0" algn="l" defTabSz="914400" rtl="0" eaLnBrk="1" latinLnBrk="0" hangingPunct="1">
        <a:lnSpc>
          <a:spcPct val="90000"/>
        </a:lnSpc>
        <a:spcBef>
          <a:spcPts val="1200"/>
        </a:spcBef>
        <a:spcAft>
          <a:spcPts val="60"/>
        </a:spcAft>
        <a:buFont typeface="Arial" panose="020B0604020202020204" pitchFamily="34" charset="0"/>
        <a:buNone/>
        <a:defRPr sz="22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1200"/>
        </a:spcBef>
        <a:spcAft>
          <a:spcPts val="60"/>
        </a:spcAft>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12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12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1200"/>
        </a:spcBef>
        <a:spcAft>
          <a:spcPts val="60"/>
        </a:spcAft>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D898D07-2CA9-5599-9660-3CFDFDB7CF38}"/>
              </a:ext>
            </a:extLst>
          </p:cNvPr>
          <p:cNvSpPr>
            <a:spLocks noGrp="1"/>
          </p:cNvSpPr>
          <p:nvPr>
            <p:ph type="ctrTitle"/>
          </p:nvPr>
        </p:nvSpPr>
        <p:spPr/>
        <p:txBody>
          <a:bodyPr/>
          <a:lstStyle/>
          <a:p>
            <a:r>
              <a:rPr lang="en-US" dirty="0"/>
              <a:t>Intro: What is Scientific Computing?</a:t>
            </a:r>
          </a:p>
        </p:txBody>
      </p:sp>
      <p:sp>
        <p:nvSpPr>
          <p:cNvPr id="8" name="Subtitle 7">
            <a:extLst>
              <a:ext uri="{FF2B5EF4-FFF2-40B4-BE49-F238E27FC236}">
                <a16:creationId xmlns:a16="http://schemas.microsoft.com/office/drawing/2014/main" id="{95FFAAAE-FB77-09E9-D849-84EC4189BB6C}"/>
              </a:ext>
            </a:extLst>
          </p:cNvPr>
          <p:cNvSpPr>
            <a:spLocks noGrp="1"/>
          </p:cNvSpPr>
          <p:nvPr>
            <p:ph type="subTitle" idx="1"/>
          </p:nvPr>
        </p:nvSpPr>
        <p:spPr/>
        <p:txBody>
          <a:bodyPr/>
          <a:lstStyle/>
          <a:p>
            <a:endParaRPr lang="en-US"/>
          </a:p>
        </p:txBody>
      </p:sp>
      <p:sp>
        <p:nvSpPr>
          <p:cNvPr id="9" name="Text Placeholder 8">
            <a:extLst>
              <a:ext uri="{FF2B5EF4-FFF2-40B4-BE49-F238E27FC236}">
                <a16:creationId xmlns:a16="http://schemas.microsoft.com/office/drawing/2014/main" id="{6CD35749-E2F5-4DF2-4501-94EA95344ABE}"/>
              </a:ext>
            </a:extLst>
          </p:cNvPr>
          <p:cNvSpPr>
            <a:spLocks noGrp="1"/>
          </p:cNvSpPr>
          <p:nvPr>
            <p:ph type="body" sz="quarter" idx="14"/>
          </p:nvPr>
        </p:nvSpPr>
        <p:spPr/>
        <p:txBody>
          <a:bodyPr/>
          <a:lstStyle/>
          <a:p>
            <a:endParaRPr lang="en-US"/>
          </a:p>
        </p:txBody>
      </p:sp>
      <p:sp>
        <p:nvSpPr>
          <p:cNvPr id="10" name="Text Placeholder 9">
            <a:extLst>
              <a:ext uri="{FF2B5EF4-FFF2-40B4-BE49-F238E27FC236}">
                <a16:creationId xmlns:a16="http://schemas.microsoft.com/office/drawing/2014/main" id="{722F97F7-DAF0-82A7-A3B6-5E5AA446C108}"/>
              </a:ext>
            </a:extLst>
          </p:cNvPr>
          <p:cNvSpPr>
            <a:spLocks noGrp="1"/>
          </p:cNvSpPr>
          <p:nvPr>
            <p:ph type="body" sz="quarter" idx="15"/>
          </p:nvPr>
        </p:nvSpPr>
        <p:spPr/>
        <p:txBody>
          <a:bodyPr/>
          <a:lstStyle/>
          <a:p>
            <a:r>
              <a:rPr lang="en-US" dirty="0"/>
              <a:t>Malcolm Guthrie</a:t>
            </a:r>
          </a:p>
        </p:txBody>
      </p:sp>
      <p:sp>
        <p:nvSpPr>
          <p:cNvPr id="11" name="Text Placeholder 10">
            <a:extLst>
              <a:ext uri="{FF2B5EF4-FFF2-40B4-BE49-F238E27FC236}">
                <a16:creationId xmlns:a16="http://schemas.microsoft.com/office/drawing/2014/main" id="{6BF9BFE2-C01C-1E22-A0E8-7F02F0E9B42F}"/>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4251991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DC51D-4274-6DBD-6B94-312AFAB18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7CAF9-3985-3440-44D4-6A2AA0091B4B}"/>
              </a:ext>
            </a:extLst>
          </p:cNvPr>
          <p:cNvSpPr>
            <a:spLocks noGrp="1"/>
          </p:cNvSpPr>
          <p:nvPr>
            <p:ph type="title"/>
          </p:nvPr>
        </p:nvSpPr>
        <p:spPr/>
        <p:txBody>
          <a:bodyPr/>
          <a:lstStyle/>
          <a:p>
            <a:r>
              <a:rPr lang="en-US" b="1" dirty="0"/>
              <a:t>Science creates, processes and interprets data</a:t>
            </a:r>
            <a:endParaRPr lang="en-US" dirty="0"/>
          </a:p>
        </p:txBody>
      </p:sp>
      <p:sp>
        <p:nvSpPr>
          <p:cNvPr id="3" name="TextBox 2">
            <a:extLst>
              <a:ext uri="{FF2B5EF4-FFF2-40B4-BE49-F238E27FC236}">
                <a16:creationId xmlns:a16="http://schemas.microsoft.com/office/drawing/2014/main" id="{7A2CEBDC-5B1C-9F39-DB21-1DEF8011E715}"/>
              </a:ext>
            </a:extLst>
          </p:cNvPr>
          <p:cNvSpPr txBox="1"/>
          <p:nvPr/>
        </p:nvSpPr>
        <p:spPr>
          <a:xfrm>
            <a:off x="1341119" y="1550125"/>
            <a:ext cx="9013372"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Many tasks are common across the scientific sphere</a:t>
            </a:r>
          </a:p>
          <a:p>
            <a:pPr marL="285750" indent="-285750">
              <a:buFont typeface="Arial" panose="020B0604020202020204" pitchFamily="34" charset="0"/>
              <a:buChar char="•"/>
            </a:pPr>
            <a:endParaRPr lang="en-US" sz="2400" dirty="0"/>
          </a:p>
        </p:txBody>
      </p:sp>
      <p:pic>
        <p:nvPicPr>
          <p:cNvPr id="1026" name="Picture 2" descr="pyvista">
            <a:extLst>
              <a:ext uri="{FF2B5EF4-FFF2-40B4-BE49-F238E27FC236}">
                <a16:creationId xmlns:a16="http://schemas.microsoft.com/office/drawing/2014/main" id="{9FC29852-7A29-B930-9A31-2B10225FE17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802882" y="4389119"/>
            <a:ext cx="3791128" cy="142167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46A7609-1A6F-223F-521D-4E8486AFB637}"/>
              </a:ext>
            </a:extLst>
          </p:cNvPr>
          <p:cNvSpPr txBox="1"/>
          <p:nvPr/>
        </p:nvSpPr>
        <p:spPr>
          <a:xfrm>
            <a:off x="8691156" y="3648890"/>
            <a:ext cx="1827744" cy="369332"/>
          </a:xfrm>
          <a:prstGeom prst="rect">
            <a:avLst/>
          </a:prstGeom>
          <a:noFill/>
        </p:spPr>
        <p:txBody>
          <a:bodyPr wrap="none" rtlCol="0">
            <a:spAutoFit/>
          </a:bodyPr>
          <a:lstStyle/>
          <a:p>
            <a:r>
              <a:rPr lang="en-US" dirty="0"/>
              <a:t>VISUALISATION</a:t>
            </a:r>
          </a:p>
        </p:txBody>
      </p:sp>
      <p:sp>
        <p:nvSpPr>
          <p:cNvPr id="8" name="TextBox 7">
            <a:extLst>
              <a:ext uri="{FF2B5EF4-FFF2-40B4-BE49-F238E27FC236}">
                <a16:creationId xmlns:a16="http://schemas.microsoft.com/office/drawing/2014/main" id="{05083725-54DB-9FE6-753A-F4767C63497B}"/>
              </a:ext>
            </a:extLst>
          </p:cNvPr>
          <p:cNvSpPr txBox="1"/>
          <p:nvPr/>
        </p:nvSpPr>
        <p:spPr>
          <a:xfrm>
            <a:off x="10119361" y="5869577"/>
            <a:ext cx="1292341" cy="246221"/>
          </a:xfrm>
          <a:prstGeom prst="rect">
            <a:avLst/>
          </a:prstGeom>
          <a:noFill/>
        </p:spPr>
        <p:txBody>
          <a:bodyPr wrap="none" rtlCol="0">
            <a:spAutoFit/>
          </a:bodyPr>
          <a:lstStyle/>
          <a:p>
            <a:r>
              <a:rPr lang="en-US" sz="1000" dirty="0"/>
              <a:t>https://</a:t>
            </a:r>
            <a:r>
              <a:rPr lang="en-US" sz="1000" dirty="0" err="1"/>
              <a:t>pyvista.org</a:t>
            </a:r>
            <a:r>
              <a:rPr lang="en-US" sz="1000" dirty="0"/>
              <a:t>/</a:t>
            </a:r>
          </a:p>
        </p:txBody>
      </p:sp>
      <p:pic>
        <p:nvPicPr>
          <p:cNvPr id="1028" name="Picture 4" descr="NumPy - Wikipedia">
            <a:extLst>
              <a:ext uri="{FF2B5EF4-FFF2-40B4-BE49-F238E27FC236}">
                <a16:creationId xmlns:a16="http://schemas.microsoft.com/office/drawing/2014/main" id="{0FF893F4-0B3E-A186-9208-84A871265CE6}"/>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93552" y="4471206"/>
            <a:ext cx="2345146" cy="106000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915F365-B39E-8FBC-66B6-25756CDAB851}"/>
              </a:ext>
            </a:extLst>
          </p:cNvPr>
          <p:cNvSpPr txBox="1"/>
          <p:nvPr/>
        </p:nvSpPr>
        <p:spPr>
          <a:xfrm>
            <a:off x="1092926" y="5691052"/>
            <a:ext cx="1274708" cy="246221"/>
          </a:xfrm>
          <a:prstGeom prst="rect">
            <a:avLst/>
          </a:prstGeom>
          <a:noFill/>
        </p:spPr>
        <p:txBody>
          <a:bodyPr wrap="none" rtlCol="0">
            <a:spAutoFit/>
          </a:bodyPr>
          <a:lstStyle/>
          <a:p>
            <a:r>
              <a:rPr lang="en-US" sz="1000" dirty="0"/>
              <a:t>https://</a:t>
            </a:r>
            <a:r>
              <a:rPr lang="en-US" sz="1000" dirty="0" err="1"/>
              <a:t>numpy.org</a:t>
            </a:r>
            <a:r>
              <a:rPr lang="en-US" sz="1000" dirty="0"/>
              <a:t>/</a:t>
            </a:r>
          </a:p>
        </p:txBody>
      </p:sp>
      <p:sp>
        <p:nvSpPr>
          <p:cNvPr id="11" name="TextBox 10">
            <a:extLst>
              <a:ext uri="{FF2B5EF4-FFF2-40B4-BE49-F238E27FC236}">
                <a16:creationId xmlns:a16="http://schemas.microsoft.com/office/drawing/2014/main" id="{8A2D144A-5A76-A220-4765-EE0AFFC25D82}"/>
              </a:ext>
            </a:extLst>
          </p:cNvPr>
          <p:cNvSpPr txBox="1"/>
          <p:nvPr/>
        </p:nvSpPr>
        <p:spPr>
          <a:xfrm>
            <a:off x="979716" y="3644535"/>
            <a:ext cx="1247457" cy="369332"/>
          </a:xfrm>
          <a:prstGeom prst="rect">
            <a:avLst/>
          </a:prstGeom>
          <a:noFill/>
        </p:spPr>
        <p:txBody>
          <a:bodyPr wrap="none" rtlCol="0">
            <a:spAutoFit/>
          </a:bodyPr>
          <a:lstStyle/>
          <a:p>
            <a:r>
              <a:rPr lang="en-US" dirty="0"/>
              <a:t>ANALYSIS</a:t>
            </a:r>
          </a:p>
        </p:txBody>
      </p:sp>
      <p:pic>
        <p:nvPicPr>
          <p:cNvPr id="1030" name="Picture 6" descr="scikit-learn - Wikipedia">
            <a:extLst>
              <a:ext uri="{FF2B5EF4-FFF2-40B4-BE49-F238E27FC236}">
                <a16:creationId xmlns:a16="http://schemas.microsoft.com/office/drawing/2014/main" id="{8D01B782-B4F3-8B02-0001-FB792A0B5B3C}"/>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077612" y="4319451"/>
            <a:ext cx="2149018" cy="115878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D57F21D-7407-1076-5D3F-7005394CF6F8}"/>
              </a:ext>
            </a:extLst>
          </p:cNvPr>
          <p:cNvSpPr txBox="1"/>
          <p:nvPr/>
        </p:nvSpPr>
        <p:spPr>
          <a:xfrm>
            <a:off x="4162699" y="3622765"/>
            <a:ext cx="2367956" cy="369332"/>
          </a:xfrm>
          <a:prstGeom prst="rect">
            <a:avLst/>
          </a:prstGeom>
          <a:noFill/>
        </p:spPr>
        <p:txBody>
          <a:bodyPr wrap="none" rtlCol="0">
            <a:spAutoFit/>
          </a:bodyPr>
          <a:lstStyle/>
          <a:p>
            <a:r>
              <a:rPr lang="en-US" dirty="0"/>
              <a:t>MACHINE LEARNING</a:t>
            </a:r>
          </a:p>
        </p:txBody>
      </p:sp>
      <p:sp>
        <p:nvSpPr>
          <p:cNvPr id="13" name="TextBox 12">
            <a:extLst>
              <a:ext uri="{FF2B5EF4-FFF2-40B4-BE49-F238E27FC236}">
                <a16:creationId xmlns:a16="http://schemas.microsoft.com/office/drawing/2014/main" id="{D4CA70E2-0097-A98B-C1E5-CE407B23AB7D}"/>
              </a:ext>
            </a:extLst>
          </p:cNvPr>
          <p:cNvSpPr txBox="1"/>
          <p:nvPr/>
        </p:nvSpPr>
        <p:spPr>
          <a:xfrm>
            <a:off x="4789715" y="5765075"/>
            <a:ext cx="1507144" cy="246221"/>
          </a:xfrm>
          <a:prstGeom prst="rect">
            <a:avLst/>
          </a:prstGeom>
          <a:noFill/>
        </p:spPr>
        <p:txBody>
          <a:bodyPr wrap="none" rtlCol="0">
            <a:spAutoFit/>
          </a:bodyPr>
          <a:lstStyle/>
          <a:p>
            <a:r>
              <a:rPr lang="en-US" sz="1000" dirty="0"/>
              <a:t>https://scikit-</a:t>
            </a:r>
            <a:r>
              <a:rPr lang="en-US" sz="1000" dirty="0" err="1"/>
              <a:t>learn.org</a:t>
            </a:r>
            <a:r>
              <a:rPr lang="en-US" sz="1000" dirty="0"/>
              <a:t>/</a:t>
            </a:r>
          </a:p>
        </p:txBody>
      </p:sp>
    </p:spTree>
    <p:extLst>
      <p:ext uri="{BB962C8B-B14F-4D97-AF65-F5344CB8AC3E}">
        <p14:creationId xmlns:p14="http://schemas.microsoft.com/office/powerpoint/2010/main" val="4219622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409A8-6A79-5018-2253-BD92D2780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95CEF-B58F-DCB7-7CA0-C557A892CD27}"/>
              </a:ext>
            </a:extLst>
          </p:cNvPr>
          <p:cNvSpPr>
            <a:spLocks noGrp="1"/>
          </p:cNvSpPr>
          <p:nvPr>
            <p:ph type="title"/>
          </p:nvPr>
        </p:nvSpPr>
        <p:spPr/>
        <p:txBody>
          <a:bodyPr/>
          <a:lstStyle/>
          <a:p>
            <a:r>
              <a:rPr lang="en-US" b="1" dirty="0"/>
              <a:t>Science creates, processes and interprets data</a:t>
            </a:r>
            <a:endParaRPr lang="en-US" dirty="0"/>
          </a:p>
        </p:txBody>
      </p:sp>
      <p:sp>
        <p:nvSpPr>
          <p:cNvPr id="3" name="TextBox 2">
            <a:extLst>
              <a:ext uri="{FF2B5EF4-FFF2-40B4-BE49-F238E27FC236}">
                <a16:creationId xmlns:a16="http://schemas.microsoft.com/office/drawing/2014/main" id="{F2781BA4-BB1F-7C19-6807-CD7E629161F0}"/>
              </a:ext>
            </a:extLst>
          </p:cNvPr>
          <p:cNvSpPr txBox="1"/>
          <p:nvPr/>
        </p:nvSpPr>
        <p:spPr>
          <a:xfrm>
            <a:off x="1341119" y="1550125"/>
            <a:ext cx="9013372"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Many tasks are common across the scientific sphere</a:t>
            </a:r>
          </a:p>
          <a:p>
            <a:pPr marL="285750" indent="-285750">
              <a:buFont typeface="Arial" panose="020B0604020202020204" pitchFamily="34" charset="0"/>
              <a:buChar char="•"/>
            </a:pPr>
            <a:r>
              <a:rPr lang="en-US" sz="2400" dirty="0"/>
              <a:t>Collaboration is extremely powerful</a:t>
            </a:r>
          </a:p>
        </p:txBody>
      </p:sp>
      <p:pic>
        <p:nvPicPr>
          <p:cNvPr id="1026" name="Picture 2" descr="pyvista">
            <a:extLst>
              <a:ext uri="{FF2B5EF4-FFF2-40B4-BE49-F238E27FC236}">
                <a16:creationId xmlns:a16="http://schemas.microsoft.com/office/drawing/2014/main" id="{8FFAD09A-87CF-D834-4628-2CEABE34538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802882" y="4389119"/>
            <a:ext cx="3791128" cy="142167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93D9EFC-9452-8811-02D4-B79C4C3E5D46}"/>
              </a:ext>
            </a:extLst>
          </p:cNvPr>
          <p:cNvSpPr txBox="1"/>
          <p:nvPr/>
        </p:nvSpPr>
        <p:spPr>
          <a:xfrm>
            <a:off x="8691156" y="3648890"/>
            <a:ext cx="1827744" cy="369332"/>
          </a:xfrm>
          <a:prstGeom prst="rect">
            <a:avLst/>
          </a:prstGeom>
          <a:noFill/>
        </p:spPr>
        <p:txBody>
          <a:bodyPr wrap="none" rtlCol="0">
            <a:spAutoFit/>
          </a:bodyPr>
          <a:lstStyle/>
          <a:p>
            <a:r>
              <a:rPr lang="en-US" dirty="0"/>
              <a:t>VISUALISATION</a:t>
            </a:r>
          </a:p>
        </p:txBody>
      </p:sp>
      <p:sp>
        <p:nvSpPr>
          <p:cNvPr id="8" name="TextBox 7">
            <a:extLst>
              <a:ext uri="{FF2B5EF4-FFF2-40B4-BE49-F238E27FC236}">
                <a16:creationId xmlns:a16="http://schemas.microsoft.com/office/drawing/2014/main" id="{86CDD711-2E03-24EE-738A-475DC328191C}"/>
              </a:ext>
            </a:extLst>
          </p:cNvPr>
          <p:cNvSpPr txBox="1"/>
          <p:nvPr/>
        </p:nvSpPr>
        <p:spPr>
          <a:xfrm>
            <a:off x="10119361" y="5869577"/>
            <a:ext cx="1292341" cy="246221"/>
          </a:xfrm>
          <a:prstGeom prst="rect">
            <a:avLst/>
          </a:prstGeom>
          <a:noFill/>
        </p:spPr>
        <p:txBody>
          <a:bodyPr wrap="none" rtlCol="0">
            <a:spAutoFit/>
          </a:bodyPr>
          <a:lstStyle/>
          <a:p>
            <a:r>
              <a:rPr lang="en-US" sz="1000" dirty="0"/>
              <a:t>https://</a:t>
            </a:r>
            <a:r>
              <a:rPr lang="en-US" sz="1000" dirty="0" err="1"/>
              <a:t>pyvista.org</a:t>
            </a:r>
            <a:r>
              <a:rPr lang="en-US" sz="1000" dirty="0"/>
              <a:t>/</a:t>
            </a:r>
          </a:p>
        </p:txBody>
      </p:sp>
      <p:pic>
        <p:nvPicPr>
          <p:cNvPr id="1028" name="Picture 4" descr="NumPy - Wikipedia">
            <a:extLst>
              <a:ext uri="{FF2B5EF4-FFF2-40B4-BE49-F238E27FC236}">
                <a16:creationId xmlns:a16="http://schemas.microsoft.com/office/drawing/2014/main" id="{3C9DA2CF-EE2D-5020-2AEA-AB0150BAC49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93552" y="4471206"/>
            <a:ext cx="2345146" cy="106000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005ED22-68CF-16A9-7A23-90D62D3D737D}"/>
              </a:ext>
            </a:extLst>
          </p:cNvPr>
          <p:cNvSpPr txBox="1"/>
          <p:nvPr/>
        </p:nvSpPr>
        <p:spPr>
          <a:xfrm>
            <a:off x="1092926" y="5691052"/>
            <a:ext cx="1274708" cy="246221"/>
          </a:xfrm>
          <a:prstGeom prst="rect">
            <a:avLst/>
          </a:prstGeom>
          <a:noFill/>
        </p:spPr>
        <p:txBody>
          <a:bodyPr wrap="none" rtlCol="0">
            <a:spAutoFit/>
          </a:bodyPr>
          <a:lstStyle/>
          <a:p>
            <a:r>
              <a:rPr lang="en-US" sz="1000" dirty="0"/>
              <a:t>https://</a:t>
            </a:r>
            <a:r>
              <a:rPr lang="en-US" sz="1000" dirty="0" err="1"/>
              <a:t>numpy.org</a:t>
            </a:r>
            <a:r>
              <a:rPr lang="en-US" sz="1000" dirty="0"/>
              <a:t>/</a:t>
            </a:r>
          </a:p>
        </p:txBody>
      </p:sp>
      <p:sp>
        <p:nvSpPr>
          <p:cNvPr id="11" name="TextBox 10">
            <a:extLst>
              <a:ext uri="{FF2B5EF4-FFF2-40B4-BE49-F238E27FC236}">
                <a16:creationId xmlns:a16="http://schemas.microsoft.com/office/drawing/2014/main" id="{13D2D62C-5FC1-0CAA-38AB-852EBFDC0F5D}"/>
              </a:ext>
            </a:extLst>
          </p:cNvPr>
          <p:cNvSpPr txBox="1"/>
          <p:nvPr/>
        </p:nvSpPr>
        <p:spPr>
          <a:xfrm>
            <a:off x="979716" y="3644535"/>
            <a:ext cx="1247457" cy="369332"/>
          </a:xfrm>
          <a:prstGeom prst="rect">
            <a:avLst/>
          </a:prstGeom>
          <a:noFill/>
        </p:spPr>
        <p:txBody>
          <a:bodyPr wrap="none" rtlCol="0">
            <a:spAutoFit/>
          </a:bodyPr>
          <a:lstStyle/>
          <a:p>
            <a:r>
              <a:rPr lang="en-US" dirty="0"/>
              <a:t>ANALYSIS</a:t>
            </a:r>
          </a:p>
        </p:txBody>
      </p:sp>
      <p:pic>
        <p:nvPicPr>
          <p:cNvPr id="1030" name="Picture 6" descr="scikit-learn - Wikipedia">
            <a:extLst>
              <a:ext uri="{FF2B5EF4-FFF2-40B4-BE49-F238E27FC236}">
                <a16:creationId xmlns:a16="http://schemas.microsoft.com/office/drawing/2014/main" id="{E0A3B162-0073-3813-1196-FE2940289360}"/>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077612" y="4319451"/>
            <a:ext cx="2149018" cy="115878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A80AE3D-6E7E-00C4-451A-70688284198B}"/>
              </a:ext>
            </a:extLst>
          </p:cNvPr>
          <p:cNvSpPr txBox="1"/>
          <p:nvPr/>
        </p:nvSpPr>
        <p:spPr>
          <a:xfrm>
            <a:off x="4162699" y="3622765"/>
            <a:ext cx="2367956" cy="369332"/>
          </a:xfrm>
          <a:prstGeom prst="rect">
            <a:avLst/>
          </a:prstGeom>
          <a:noFill/>
        </p:spPr>
        <p:txBody>
          <a:bodyPr wrap="none" rtlCol="0">
            <a:spAutoFit/>
          </a:bodyPr>
          <a:lstStyle/>
          <a:p>
            <a:r>
              <a:rPr lang="en-US" dirty="0"/>
              <a:t>MACHINE LEARNING</a:t>
            </a:r>
          </a:p>
        </p:txBody>
      </p:sp>
      <p:sp>
        <p:nvSpPr>
          <p:cNvPr id="13" name="TextBox 12">
            <a:extLst>
              <a:ext uri="{FF2B5EF4-FFF2-40B4-BE49-F238E27FC236}">
                <a16:creationId xmlns:a16="http://schemas.microsoft.com/office/drawing/2014/main" id="{0E1270E8-ABAA-2A43-980F-165A378AB7F4}"/>
              </a:ext>
            </a:extLst>
          </p:cNvPr>
          <p:cNvSpPr txBox="1"/>
          <p:nvPr/>
        </p:nvSpPr>
        <p:spPr>
          <a:xfrm>
            <a:off x="4789715" y="5765075"/>
            <a:ext cx="1507144" cy="246221"/>
          </a:xfrm>
          <a:prstGeom prst="rect">
            <a:avLst/>
          </a:prstGeom>
          <a:noFill/>
        </p:spPr>
        <p:txBody>
          <a:bodyPr wrap="none" rtlCol="0">
            <a:spAutoFit/>
          </a:bodyPr>
          <a:lstStyle/>
          <a:p>
            <a:r>
              <a:rPr lang="en-US" sz="1000" dirty="0"/>
              <a:t>https://scikit-</a:t>
            </a:r>
            <a:r>
              <a:rPr lang="en-US" sz="1000" dirty="0" err="1"/>
              <a:t>learn.org</a:t>
            </a:r>
            <a:r>
              <a:rPr lang="en-US" sz="1000" dirty="0"/>
              <a:t>/</a:t>
            </a:r>
          </a:p>
        </p:txBody>
      </p:sp>
    </p:spTree>
    <p:extLst>
      <p:ext uri="{BB962C8B-B14F-4D97-AF65-F5344CB8AC3E}">
        <p14:creationId xmlns:p14="http://schemas.microsoft.com/office/powerpoint/2010/main" val="2248400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F6238-FD02-712F-C741-91272AD51A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59B4C-77D4-53C6-F31A-1D9148BDEA75}"/>
              </a:ext>
            </a:extLst>
          </p:cNvPr>
          <p:cNvSpPr>
            <a:spLocks noGrp="1"/>
          </p:cNvSpPr>
          <p:nvPr>
            <p:ph type="title"/>
          </p:nvPr>
        </p:nvSpPr>
        <p:spPr/>
        <p:txBody>
          <a:bodyPr/>
          <a:lstStyle/>
          <a:p>
            <a:r>
              <a:rPr lang="en-US" b="1" dirty="0"/>
              <a:t>Science creates, processes and interprets data</a:t>
            </a:r>
            <a:endParaRPr lang="en-US" dirty="0"/>
          </a:p>
        </p:txBody>
      </p:sp>
      <p:sp>
        <p:nvSpPr>
          <p:cNvPr id="3" name="TextBox 2">
            <a:extLst>
              <a:ext uri="{FF2B5EF4-FFF2-40B4-BE49-F238E27FC236}">
                <a16:creationId xmlns:a16="http://schemas.microsoft.com/office/drawing/2014/main" id="{2FAFFD0B-CFBD-CA2A-6EF9-B1FA76B35277}"/>
              </a:ext>
            </a:extLst>
          </p:cNvPr>
          <p:cNvSpPr txBox="1"/>
          <p:nvPr/>
        </p:nvSpPr>
        <p:spPr>
          <a:xfrm>
            <a:off x="1341119" y="1550125"/>
            <a:ext cx="9013372"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Many tasks are common across the scientific sphere</a:t>
            </a:r>
          </a:p>
          <a:p>
            <a:pPr marL="285750" indent="-285750">
              <a:buFont typeface="Arial" panose="020B0604020202020204" pitchFamily="34" charset="0"/>
              <a:buChar char="•"/>
            </a:pPr>
            <a:r>
              <a:rPr lang="en-US" sz="2400" dirty="0"/>
              <a:t>Collaboration is extremely powerful</a:t>
            </a:r>
          </a:p>
          <a:p>
            <a:pPr marL="285750" indent="-285750">
              <a:buFont typeface="Arial" panose="020B0604020202020204" pitchFamily="34" charset="0"/>
              <a:buChar char="•"/>
            </a:pPr>
            <a:r>
              <a:rPr lang="en-US" sz="2400" dirty="0"/>
              <a:t>But comes with challenges</a:t>
            </a:r>
          </a:p>
          <a:p>
            <a:pPr marL="285750" indent="-285750">
              <a:buFont typeface="Arial" panose="020B0604020202020204" pitchFamily="34" charset="0"/>
              <a:buChar char="•"/>
            </a:pPr>
            <a:endParaRPr lang="en-US" sz="2400" dirty="0"/>
          </a:p>
        </p:txBody>
      </p:sp>
      <p:pic>
        <p:nvPicPr>
          <p:cNvPr id="1026" name="Picture 2" descr="pyvista">
            <a:extLst>
              <a:ext uri="{FF2B5EF4-FFF2-40B4-BE49-F238E27FC236}">
                <a16:creationId xmlns:a16="http://schemas.microsoft.com/office/drawing/2014/main" id="{45AF8A0E-7B27-410B-C843-09932543C43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802882" y="4389119"/>
            <a:ext cx="3791128" cy="142167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8F97E3B-A417-E5D1-FB90-701884E7FAFB}"/>
              </a:ext>
            </a:extLst>
          </p:cNvPr>
          <p:cNvSpPr txBox="1"/>
          <p:nvPr/>
        </p:nvSpPr>
        <p:spPr>
          <a:xfrm>
            <a:off x="8691156" y="3648890"/>
            <a:ext cx="1827744" cy="369332"/>
          </a:xfrm>
          <a:prstGeom prst="rect">
            <a:avLst/>
          </a:prstGeom>
          <a:noFill/>
        </p:spPr>
        <p:txBody>
          <a:bodyPr wrap="none" rtlCol="0">
            <a:spAutoFit/>
          </a:bodyPr>
          <a:lstStyle/>
          <a:p>
            <a:r>
              <a:rPr lang="en-US" dirty="0"/>
              <a:t>VISUALISATION</a:t>
            </a:r>
          </a:p>
        </p:txBody>
      </p:sp>
      <p:sp>
        <p:nvSpPr>
          <p:cNvPr id="8" name="TextBox 7">
            <a:extLst>
              <a:ext uri="{FF2B5EF4-FFF2-40B4-BE49-F238E27FC236}">
                <a16:creationId xmlns:a16="http://schemas.microsoft.com/office/drawing/2014/main" id="{9B75B5FB-1BDC-7EEB-2A5E-11F7D6B6FF6E}"/>
              </a:ext>
            </a:extLst>
          </p:cNvPr>
          <p:cNvSpPr txBox="1"/>
          <p:nvPr/>
        </p:nvSpPr>
        <p:spPr>
          <a:xfrm>
            <a:off x="10119361" y="5869577"/>
            <a:ext cx="1292341" cy="246221"/>
          </a:xfrm>
          <a:prstGeom prst="rect">
            <a:avLst/>
          </a:prstGeom>
          <a:noFill/>
        </p:spPr>
        <p:txBody>
          <a:bodyPr wrap="none" rtlCol="0">
            <a:spAutoFit/>
          </a:bodyPr>
          <a:lstStyle/>
          <a:p>
            <a:r>
              <a:rPr lang="en-US" sz="1000" dirty="0"/>
              <a:t>https://</a:t>
            </a:r>
            <a:r>
              <a:rPr lang="en-US" sz="1000" dirty="0" err="1"/>
              <a:t>pyvista.org</a:t>
            </a:r>
            <a:r>
              <a:rPr lang="en-US" sz="1000" dirty="0"/>
              <a:t>/</a:t>
            </a:r>
          </a:p>
        </p:txBody>
      </p:sp>
      <p:pic>
        <p:nvPicPr>
          <p:cNvPr id="1028" name="Picture 4" descr="NumPy - Wikipedia">
            <a:extLst>
              <a:ext uri="{FF2B5EF4-FFF2-40B4-BE49-F238E27FC236}">
                <a16:creationId xmlns:a16="http://schemas.microsoft.com/office/drawing/2014/main" id="{6EB39390-8DB3-001A-5259-42211B679759}"/>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93552" y="4471206"/>
            <a:ext cx="2345146" cy="106000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4A5CC14-E0B4-A77B-ADC7-7921CDFEE459}"/>
              </a:ext>
            </a:extLst>
          </p:cNvPr>
          <p:cNvSpPr txBox="1"/>
          <p:nvPr/>
        </p:nvSpPr>
        <p:spPr>
          <a:xfrm>
            <a:off x="1092926" y="5691052"/>
            <a:ext cx="1274708" cy="246221"/>
          </a:xfrm>
          <a:prstGeom prst="rect">
            <a:avLst/>
          </a:prstGeom>
          <a:noFill/>
        </p:spPr>
        <p:txBody>
          <a:bodyPr wrap="none" rtlCol="0">
            <a:spAutoFit/>
          </a:bodyPr>
          <a:lstStyle/>
          <a:p>
            <a:r>
              <a:rPr lang="en-US" sz="1000" dirty="0"/>
              <a:t>https://</a:t>
            </a:r>
            <a:r>
              <a:rPr lang="en-US" sz="1000" dirty="0" err="1"/>
              <a:t>numpy.org</a:t>
            </a:r>
            <a:r>
              <a:rPr lang="en-US" sz="1000" dirty="0"/>
              <a:t>/</a:t>
            </a:r>
          </a:p>
        </p:txBody>
      </p:sp>
      <p:sp>
        <p:nvSpPr>
          <p:cNvPr id="11" name="TextBox 10">
            <a:extLst>
              <a:ext uri="{FF2B5EF4-FFF2-40B4-BE49-F238E27FC236}">
                <a16:creationId xmlns:a16="http://schemas.microsoft.com/office/drawing/2014/main" id="{3BDD9E5C-8834-69F0-D547-AF07B37C8028}"/>
              </a:ext>
            </a:extLst>
          </p:cNvPr>
          <p:cNvSpPr txBox="1"/>
          <p:nvPr/>
        </p:nvSpPr>
        <p:spPr>
          <a:xfrm>
            <a:off x="979716" y="3644535"/>
            <a:ext cx="1247457" cy="369332"/>
          </a:xfrm>
          <a:prstGeom prst="rect">
            <a:avLst/>
          </a:prstGeom>
          <a:noFill/>
        </p:spPr>
        <p:txBody>
          <a:bodyPr wrap="none" rtlCol="0">
            <a:spAutoFit/>
          </a:bodyPr>
          <a:lstStyle/>
          <a:p>
            <a:r>
              <a:rPr lang="en-US" dirty="0"/>
              <a:t>ANALYSIS</a:t>
            </a:r>
          </a:p>
        </p:txBody>
      </p:sp>
      <p:pic>
        <p:nvPicPr>
          <p:cNvPr id="1030" name="Picture 6" descr="scikit-learn - Wikipedia">
            <a:extLst>
              <a:ext uri="{FF2B5EF4-FFF2-40B4-BE49-F238E27FC236}">
                <a16:creationId xmlns:a16="http://schemas.microsoft.com/office/drawing/2014/main" id="{4AF0DD3F-BE63-D972-5E90-80152AE2075E}"/>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077612" y="4319451"/>
            <a:ext cx="2149018" cy="115878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B74DB8C-E61C-6975-4E65-A3ED8BD3ABDA}"/>
              </a:ext>
            </a:extLst>
          </p:cNvPr>
          <p:cNvSpPr txBox="1"/>
          <p:nvPr/>
        </p:nvSpPr>
        <p:spPr>
          <a:xfrm>
            <a:off x="4162699" y="3622765"/>
            <a:ext cx="2367956" cy="369332"/>
          </a:xfrm>
          <a:prstGeom prst="rect">
            <a:avLst/>
          </a:prstGeom>
          <a:noFill/>
        </p:spPr>
        <p:txBody>
          <a:bodyPr wrap="none" rtlCol="0">
            <a:spAutoFit/>
          </a:bodyPr>
          <a:lstStyle/>
          <a:p>
            <a:r>
              <a:rPr lang="en-US" dirty="0"/>
              <a:t>MACHINE LEARNING</a:t>
            </a:r>
          </a:p>
        </p:txBody>
      </p:sp>
      <p:sp>
        <p:nvSpPr>
          <p:cNvPr id="13" name="TextBox 12">
            <a:extLst>
              <a:ext uri="{FF2B5EF4-FFF2-40B4-BE49-F238E27FC236}">
                <a16:creationId xmlns:a16="http://schemas.microsoft.com/office/drawing/2014/main" id="{E8D47A02-157B-B111-4BE0-D12CD0A4F5E8}"/>
              </a:ext>
            </a:extLst>
          </p:cNvPr>
          <p:cNvSpPr txBox="1"/>
          <p:nvPr/>
        </p:nvSpPr>
        <p:spPr>
          <a:xfrm>
            <a:off x="4789715" y="5765075"/>
            <a:ext cx="1507144" cy="246221"/>
          </a:xfrm>
          <a:prstGeom prst="rect">
            <a:avLst/>
          </a:prstGeom>
          <a:noFill/>
        </p:spPr>
        <p:txBody>
          <a:bodyPr wrap="none" rtlCol="0">
            <a:spAutoFit/>
          </a:bodyPr>
          <a:lstStyle/>
          <a:p>
            <a:r>
              <a:rPr lang="en-US" sz="1000" dirty="0"/>
              <a:t>https://scikit-</a:t>
            </a:r>
            <a:r>
              <a:rPr lang="en-US" sz="1000" dirty="0" err="1"/>
              <a:t>learn.org</a:t>
            </a:r>
            <a:r>
              <a:rPr lang="en-US" sz="1000" dirty="0"/>
              <a:t>/</a:t>
            </a:r>
          </a:p>
        </p:txBody>
      </p:sp>
    </p:spTree>
    <p:extLst>
      <p:ext uri="{BB962C8B-B14F-4D97-AF65-F5344CB8AC3E}">
        <p14:creationId xmlns:p14="http://schemas.microsoft.com/office/powerpoint/2010/main" val="461333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E1929-BF62-9D65-C499-9971E5182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39E1B-40C1-C755-4D11-53B40D16BB84}"/>
              </a:ext>
            </a:extLst>
          </p:cNvPr>
          <p:cNvSpPr>
            <a:spLocks noGrp="1"/>
          </p:cNvSpPr>
          <p:nvPr>
            <p:ph type="title"/>
          </p:nvPr>
        </p:nvSpPr>
        <p:spPr/>
        <p:txBody>
          <a:bodyPr/>
          <a:lstStyle/>
          <a:p>
            <a:r>
              <a:rPr lang="en-US" b="1" dirty="0"/>
              <a:t>Example: mantid</a:t>
            </a:r>
            <a:endParaRPr lang="en-US" dirty="0"/>
          </a:p>
        </p:txBody>
      </p:sp>
      <p:sp>
        <p:nvSpPr>
          <p:cNvPr id="3" name="TextBox 2">
            <a:extLst>
              <a:ext uri="{FF2B5EF4-FFF2-40B4-BE49-F238E27FC236}">
                <a16:creationId xmlns:a16="http://schemas.microsoft.com/office/drawing/2014/main" id="{43931127-35FA-00C9-724C-CA1C5782141C}"/>
              </a:ext>
            </a:extLst>
          </p:cNvPr>
          <p:cNvSpPr txBox="1"/>
          <p:nvPr/>
        </p:nvSpPr>
        <p:spPr>
          <a:xfrm>
            <a:off x="1341119" y="1550125"/>
            <a:ext cx="9013372"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Extensive toolbox for processing and visualizing neutron data</a:t>
            </a:r>
          </a:p>
          <a:p>
            <a:pPr marL="285750" indent="-285750">
              <a:buFont typeface="Arial" panose="020B0604020202020204" pitchFamily="34" charset="0"/>
              <a:buChar char="•"/>
            </a:pPr>
            <a:endParaRPr lang="en-US" sz="2400" dirty="0"/>
          </a:p>
        </p:txBody>
      </p:sp>
      <p:pic>
        <p:nvPicPr>
          <p:cNvPr id="4" name="Picture 3">
            <a:extLst>
              <a:ext uri="{FF2B5EF4-FFF2-40B4-BE49-F238E27FC236}">
                <a16:creationId xmlns:a16="http://schemas.microsoft.com/office/drawing/2014/main" id="{C127E227-D4EA-35A0-C7A7-A6F551019404}"/>
              </a:ext>
            </a:extLst>
          </p:cNvPr>
          <p:cNvPicPr>
            <a:picLocks noChangeAspect="1"/>
          </p:cNvPicPr>
          <p:nvPr/>
        </p:nvPicPr>
        <p:blipFill>
          <a:blip r:embed="rId5"/>
          <a:stretch>
            <a:fillRect/>
          </a:stretch>
        </p:blipFill>
        <p:spPr>
          <a:xfrm>
            <a:off x="578757" y="3979818"/>
            <a:ext cx="2992241" cy="659130"/>
          </a:xfrm>
          <a:prstGeom prst="rect">
            <a:avLst/>
          </a:prstGeom>
        </p:spPr>
      </p:pic>
      <p:sp>
        <p:nvSpPr>
          <p:cNvPr id="9" name="TextBox 8">
            <a:extLst>
              <a:ext uri="{FF2B5EF4-FFF2-40B4-BE49-F238E27FC236}">
                <a16:creationId xmlns:a16="http://schemas.microsoft.com/office/drawing/2014/main" id="{8110E7CA-06F8-8244-39E3-2257FE5B9FC2}"/>
              </a:ext>
            </a:extLst>
          </p:cNvPr>
          <p:cNvSpPr txBox="1"/>
          <p:nvPr/>
        </p:nvSpPr>
        <p:spPr>
          <a:xfrm>
            <a:off x="957943" y="4692134"/>
            <a:ext cx="2638697" cy="246221"/>
          </a:xfrm>
          <a:prstGeom prst="rect">
            <a:avLst/>
          </a:prstGeom>
          <a:noFill/>
        </p:spPr>
        <p:txBody>
          <a:bodyPr wrap="square">
            <a:spAutoFit/>
          </a:bodyPr>
          <a:lstStyle/>
          <a:p>
            <a:r>
              <a:rPr lang="en-US" sz="1000" dirty="0"/>
              <a:t>https://</a:t>
            </a:r>
            <a:r>
              <a:rPr lang="en-US" sz="1000" dirty="0" err="1"/>
              <a:t>github.com</a:t>
            </a:r>
            <a:r>
              <a:rPr lang="en-US" sz="1000" dirty="0"/>
              <a:t>/</a:t>
            </a:r>
            <a:r>
              <a:rPr lang="en-US" sz="1000" dirty="0" err="1"/>
              <a:t>mantidproject</a:t>
            </a:r>
            <a:r>
              <a:rPr lang="en-US" sz="1000" dirty="0"/>
              <a:t>/mantid</a:t>
            </a:r>
          </a:p>
        </p:txBody>
      </p:sp>
      <p:sp>
        <p:nvSpPr>
          <p:cNvPr id="14" name="TextBox 13">
            <a:extLst>
              <a:ext uri="{FF2B5EF4-FFF2-40B4-BE49-F238E27FC236}">
                <a16:creationId xmlns:a16="http://schemas.microsoft.com/office/drawing/2014/main" id="{4B396DF6-5F52-95B5-00EF-826C3870283F}"/>
              </a:ext>
            </a:extLst>
          </p:cNvPr>
          <p:cNvSpPr txBox="1"/>
          <p:nvPr/>
        </p:nvSpPr>
        <p:spPr>
          <a:xfrm>
            <a:off x="561705" y="3444237"/>
            <a:ext cx="3222357" cy="369332"/>
          </a:xfrm>
          <a:prstGeom prst="rect">
            <a:avLst/>
          </a:prstGeom>
          <a:noFill/>
        </p:spPr>
        <p:txBody>
          <a:bodyPr wrap="none" rtlCol="0">
            <a:spAutoFit/>
          </a:bodyPr>
          <a:lstStyle/>
          <a:p>
            <a:r>
              <a:rPr lang="en-US" dirty="0"/>
              <a:t>OPEN SOURCE GITHUB REPO</a:t>
            </a:r>
          </a:p>
        </p:txBody>
      </p:sp>
      <p:sp>
        <p:nvSpPr>
          <p:cNvPr id="15" name="TextBox 14">
            <a:extLst>
              <a:ext uri="{FF2B5EF4-FFF2-40B4-BE49-F238E27FC236}">
                <a16:creationId xmlns:a16="http://schemas.microsoft.com/office/drawing/2014/main" id="{46E689DA-B6A2-4EA7-3377-D99808678A50}"/>
              </a:ext>
            </a:extLst>
          </p:cNvPr>
          <p:cNvSpPr txBox="1"/>
          <p:nvPr/>
        </p:nvSpPr>
        <p:spPr>
          <a:xfrm>
            <a:off x="8630196" y="3352797"/>
            <a:ext cx="2550698" cy="369332"/>
          </a:xfrm>
          <a:prstGeom prst="rect">
            <a:avLst/>
          </a:prstGeom>
          <a:noFill/>
        </p:spPr>
        <p:txBody>
          <a:bodyPr wrap="none" rtlCol="0">
            <a:spAutoFit/>
          </a:bodyPr>
          <a:lstStyle/>
          <a:p>
            <a:r>
              <a:rPr lang="en-US" dirty="0"/>
              <a:t>MANY DEPENDENCIES</a:t>
            </a:r>
          </a:p>
        </p:txBody>
      </p:sp>
      <p:sp>
        <p:nvSpPr>
          <p:cNvPr id="16" name="TextBox 15">
            <a:extLst>
              <a:ext uri="{FF2B5EF4-FFF2-40B4-BE49-F238E27FC236}">
                <a16:creationId xmlns:a16="http://schemas.microsoft.com/office/drawing/2014/main" id="{4C4E9EBF-0237-E324-7C05-3F8B03CCF89F}"/>
              </a:ext>
            </a:extLst>
          </p:cNvPr>
          <p:cNvSpPr txBox="1"/>
          <p:nvPr/>
        </p:nvSpPr>
        <p:spPr>
          <a:xfrm>
            <a:off x="4236722" y="3374568"/>
            <a:ext cx="3236784" cy="369332"/>
          </a:xfrm>
          <a:prstGeom prst="rect">
            <a:avLst/>
          </a:prstGeom>
          <a:noFill/>
        </p:spPr>
        <p:txBody>
          <a:bodyPr wrap="none" rtlCol="0">
            <a:spAutoFit/>
          </a:bodyPr>
          <a:lstStyle/>
          <a:p>
            <a:r>
              <a:rPr lang="en-US" dirty="0"/>
              <a:t>CROSS-PLATFORM SUPPORT</a:t>
            </a:r>
          </a:p>
        </p:txBody>
      </p:sp>
      <p:pic>
        <p:nvPicPr>
          <p:cNvPr id="17" name="Picture 16">
            <a:extLst>
              <a:ext uri="{FF2B5EF4-FFF2-40B4-BE49-F238E27FC236}">
                <a16:creationId xmlns:a16="http://schemas.microsoft.com/office/drawing/2014/main" id="{FCA58C98-B10B-311F-E115-9BF6C60342B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10744" y="3879627"/>
            <a:ext cx="3093720" cy="1215231"/>
          </a:xfrm>
          <a:prstGeom prst="rect">
            <a:avLst/>
          </a:prstGeom>
        </p:spPr>
      </p:pic>
      <p:pic>
        <p:nvPicPr>
          <p:cNvPr id="6" name="dependencies_compressed.mp4">
            <a:hlinkClick r:id="" action="ppaction://media"/>
            <a:extLst>
              <a:ext uri="{FF2B5EF4-FFF2-40B4-BE49-F238E27FC236}">
                <a16:creationId xmlns:a16="http://schemas.microsoft.com/office/drawing/2014/main" id="{FCBAB4F3-E0C6-A11F-6CCD-91B83AAF7810}"/>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070574" y="3855342"/>
            <a:ext cx="3605696" cy="1961257"/>
          </a:xfrm>
          <a:prstGeom prst="rect">
            <a:avLst/>
          </a:prstGeom>
        </p:spPr>
      </p:pic>
    </p:spTree>
    <p:extLst>
      <p:ext uri="{BB962C8B-B14F-4D97-AF65-F5344CB8AC3E}">
        <p14:creationId xmlns:p14="http://schemas.microsoft.com/office/powerpoint/2010/main" val="5620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46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CC34-8FF7-8E05-B56D-BBC74EAB50AE}"/>
              </a:ext>
            </a:extLst>
          </p:cNvPr>
          <p:cNvSpPr>
            <a:spLocks noGrp="1"/>
          </p:cNvSpPr>
          <p:nvPr>
            <p:ph type="title"/>
          </p:nvPr>
        </p:nvSpPr>
        <p:spPr/>
        <p:txBody>
          <a:bodyPr/>
          <a:lstStyle/>
          <a:p>
            <a:r>
              <a:rPr lang="en-US" dirty="0"/>
              <a:t>Some questions to ask when creating software in 2025</a:t>
            </a:r>
          </a:p>
        </p:txBody>
      </p:sp>
      <p:sp>
        <p:nvSpPr>
          <p:cNvPr id="6" name="TextBox 5">
            <a:extLst>
              <a:ext uri="{FF2B5EF4-FFF2-40B4-BE49-F238E27FC236}">
                <a16:creationId xmlns:a16="http://schemas.microsoft.com/office/drawing/2014/main" id="{B826E77A-83B3-40DE-0C79-3E3F1FDFFC15}"/>
              </a:ext>
            </a:extLst>
          </p:cNvPr>
          <p:cNvSpPr txBox="1"/>
          <p:nvPr/>
        </p:nvSpPr>
        <p:spPr>
          <a:xfrm>
            <a:off x="3576431" y="1252521"/>
            <a:ext cx="4600114"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Is my problem already solved?</a:t>
            </a:r>
          </a:p>
          <a:p>
            <a:pPr marL="285750" indent="-285750">
              <a:buFont typeface="Arial" panose="020B0604020202020204" pitchFamily="34" charset="0"/>
              <a:buChar char="•"/>
            </a:pPr>
            <a:r>
              <a:rPr lang="en-US" sz="2400" dirty="0"/>
              <a:t>How can I collaborate?</a:t>
            </a:r>
          </a:p>
          <a:p>
            <a:pPr marL="285750" indent="-285750">
              <a:buFont typeface="Arial" panose="020B0604020202020204" pitchFamily="34" charset="0"/>
              <a:buChar char="•"/>
            </a:pPr>
            <a:r>
              <a:rPr lang="en-US" sz="2400" dirty="0"/>
              <a:t>Can my work help others?</a:t>
            </a:r>
          </a:p>
        </p:txBody>
      </p:sp>
      <p:sp>
        <p:nvSpPr>
          <p:cNvPr id="7" name="TextBox 6">
            <a:extLst>
              <a:ext uri="{FF2B5EF4-FFF2-40B4-BE49-F238E27FC236}">
                <a16:creationId xmlns:a16="http://schemas.microsoft.com/office/drawing/2014/main" id="{EA7BEF84-BE25-4263-6E64-68EAF33C880E}"/>
              </a:ext>
            </a:extLst>
          </p:cNvPr>
          <p:cNvSpPr txBox="1"/>
          <p:nvPr/>
        </p:nvSpPr>
        <p:spPr>
          <a:xfrm>
            <a:off x="2145149" y="2702118"/>
            <a:ext cx="7462678" cy="461665"/>
          </a:xfrm>
          <a:prstGeom prst="rect">
            <a:avLst/>
          </a:prstGeom>
          <a:noFill/>
        </p:spPr>
        <p:txBody>
          <a:bodyPr wrap="square" rtlCol="0">
            <a:spAutoFit/>
          </a:bodyPr>
          <a:lstStyle/>
          <a:p>
            <a:r>
              <a:rPr lang="en-US" sz="2400" dirty="0"/>
              <a:t>Navigating this requires certain knowledge and skills</a:t>
            </a:r>
          </a:p>
        </p:txBody>
      </p:sp>
    </p:spTree>
    <p:extLst>
      <p:ext uri="{BB962C8B-B14F-4D97-AF65-F5344CB8AC3E}">
        <p14:creationId xmlns:p14="http://schemas.microsoft.com/office/powerpoint/2010/main" val="392904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09F9E-A488-9D31-5D80-852CCE6E1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1FF08-4B96-7564-DE2D-D0E63A8BA472}"/>
              </a:ext>
            </a:extLst>
          </p:cNvPr>
          <p:cNvSpPr>
            <a:spLocks noGrp="1"/>
          </p:cNvSpPr>
          <p:nvPr>
            <p:ph type="title"/>
          </p:nvPr>
        </p:nvSpPr>
        <p:spPr/>
        <p:txBody>
          <a:bodyPr/>
          <a:lstStyle/>
          <a:p>
            <a:r>
              <a:rPr lang="en-US" dirty="0"/>
              <a:t>Some questions to ask when creating software in </a:t>
            </a:r>
            <a:r>
              <a:rPr lang="en-US" strike="sngStrike" dirty="0"/>
              <a:t>2025</a:t>
            </a:r>
            <a:r>
              <a:rPr lang="en-US" dirty="0"/>
              <a:t> 2026</a:t>
            </a:r>
          </a:p>
        </p:txBody>
      </p:sp>
      <p:sp>
        <p:nvSpPr>
          <p:cNvPr id="5" name="TextBox 4">
            <a:extLst>
              <a:ext uri="{FF2B5EF4-FFF2-40B4-BE49-F238E27FC236}">
                <a16:creationId xmlns:a16="http://schemas.microsoft.com/office/drawing/2014/main" id="{FC02EB7A-CB5E-7759-E2D4-8E0075574106}"/>
              </a:ext>
            </a:extLst>
          </p:cNvPr>
          <p:cNvSpPr txBox="1"/>
          <p:nvPr/>
        </p:nvSpPr>
        <p:spPr>
          <a:xfrm>
            <a:off x="3737113" y="3472070"/>
            <a:ext cx="3856383" cy="461665"/>
          </a:xfrm>
          <a:prstGeom prst="rect">
            <a:avLst/>
          </a:prstGeom>
          <a:noFill/>
        </p:spPr>
        <p:txBody>
          <a:bodyPr wrap="square" rtlCol="0">
            <a:spAutoFit/>
          </a:bodyPr>
          <a:lstStyle/>
          <a:p>
            <a:r>
              <a:rPr lang="en-US" sz="2400" dirty="0">
                <a:solidFill>
                  <a:srgbClr val="FF0000"/>
                </a:solidFill>
              </a:rPr>
              <a:t>AI is impacting everything!</a:t>
            </a:r>
          </a:p>
        </p:txBody>
      </p:sp>
      <p:pic>
        <p:nvPicPr>
          <p:cNvPr id="9" name="Picture 8" descr="Just realized the Claude logo is Kurt Vonnegut's drawing of an asshole and now I can't unsee it">
            <a:extLst>
              <a:ext uri="{FF2B5EF4-FFF2-40B4-BE49-F238E27FC236}">
                <a16:creationId xmlns:a16="http://schemas.microsoft.com/office/drawing/2014/main" id="{A6DA2FC9-5A1E-FDC2-3AF5-BC8F08FC0A6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79643" y="3405808"/>
            <a:ext cx="732183" cy="732183"/>
          </a:xfrm>
          <a:prstGeom prst="rect">
            <a:avLst/>
          </a:prstGeom>
        </p:spPr>
      </p:pic>
      <p:pic>
        <p:nvPicPr>
          <p:cNvPr id="10" name="Picture 9" descr="Openai icon - Free Download PNG &amp; SVG | Streamline">
            <a:extLst>
              <a:ext uri="{FF2B5EF4-FFF2-40B4-BE49-F238E27FC236}">
                <a16:creationId xmlns:a16="http://schemas.microsoft.com/office/drawing/2014/main" id="{464DF2A5-502B-8F7E-44BE-1F6530850D1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36565" y="3313042"/>
            <a:ext cx="738809" cy="738809"/>
          </a:xfrm>
          <a:prstGeom prst="rect">
            <a:avLst/>
          </a:prstGeom>
        </p:spPr>
      </p:pic>
      <p:sp>
        <p:nvSpPr>
          <p:cNvPr id="11" name="TextBox 10">
            <a:extLst>
              <a:ext uri="{FF2B5EF4-FFF2-40B4-BE49-F238E27FC236}">
                <a16:creationId xmlns:a16="http://schemas.microsoft.com/office/drawing/2014/main" id="{6001C4A9-D334-FA1D-55C8-CCD1F7EFD368}"/>
              </a:ext>
            </a:extLst>
          </p:cNvPr>
          <p:cNvSpPr txBox="1"/>
          <p:nvPr/>
        </p:nvSpPr>
        <p:spPr>
          <a:xfrm>
            <a:off x="1619982" y="4757721"/>
            <a:ext cx="9233547"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are best practices for interacting with agentic coders?</a:t>
            </a:r>
          </a:p>
          <a:p>
            <a:pPr marL="285750" indent="-285750">
              <a:buFont typeface="Arial" panose="020B0604020202020204" pitchFamily="34" charset="0"/>
              <a:buChar char="•"/>
            </a:pPr>
            <a:r>
              <a:rPr lang="en-US" sz="2400" dirty="0"/>
              <a:t>Are my datasets going to be ingested by humans or agents?</a:t>
            </a:r>
          </a:p>
          <a:p>
            <a:pPr marL="285750" indent="-285750">
              <a:buFont typeface="Arial" panose="020B0604020202020204" pitchFamily="34" charset="0"/>
              <a:buChar char="•"/>
            </a:pPr>
            <a:r>
              <a:rPr lang="en-US" sz="2400" dirty="0"/>
              <a:t>Is my approach to data processing and provenance impeccable? </a:t>
            </a:r>
          </a:p>
        </p:txBody>
      </p:sp>
      <p:sp>
        <p:nvSpPr>
          <p:cNvPr id="12" name="TextBox 11">
            <a:extLst>
              <a:ext uri="{FF2B5EF4-FFF2-40B4-BE49-F238E27FC236}">
                <a16:creationId xmlns:a16="http://schemas.microsoft.com/office/drawing/2014/main" id="{70C0B603-1373-F7EA-6211-FFDFD2300442}"/>
              </a:ext>
            </a:extLst>
          </p:cNvPr>
          <p:cNvSpPr txBox="1"/>
          <p:nvPr/>
        </p:nvSpPr>
        <p:spPr>
          <a:xfrm>
            <a:off x="3576431" y="1252521"/>
            <a:ext cx="4600114"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Is my problem already solved?</a:t>
            </a:r>
          </a:p>
          <a:p>
            <a:pPr marL="285750" indent="-285750">
              <a:buFont typeface="Arial" panose="020B0604020202020204" pitchFamily="34" charset="0"/>
              <a:buChar char="•"/>
            </a:pPr>
            <a:r>
              <a:rPr lang="en-US" sz="2400" dirty="0"/>
              <a:t>How can I collaborate?</a:t>
            </a:r>
          </a:p>
          <a:p>
            <a:pPr marL="285750" indent="-285750">
              <a:buFont typeface="Arial" panose="020B0604020202020204" pitchFamily="34" charset="0"/>
              <a:buChar char="•"/>
            </a:pPr>
            <a:r>
              <a:rPr lang="en-US" sz="2400" dirty="0"/>
              <a:t>Can my work help others?</a:t>
            </a:r>
          </a:p>
        </p:txBody>
      </p:sp>
      <p:sp>
        <p:nvSpPr>
          <p:cNvPr id="13" name="TextBox 12">
            <a:extLst>
              <a:ext uri="{FF2B5EF4-FFF2-40B4-BE49-F238E27FC236}">
                <a16:creationId xmlns:a16="http://schemas.microsoft.com/office/drawing/2014/main" id="{1B79B78E-B503-1649-371A-E8ADB2BB2087}"/>
              </a:ext>
            </a:extLst>
          </p:cNvPr>
          <p:cNvSpPr txBox="1"/>
          <p:nvPr/>
        </p:nvSpPr>
        <p:spPr>
          <a:xfrm>
            <a:off x="2145149" y="2702118"/>
            <a:ext cx="7462678" cy="461665"/>
          </a:xfrm>
          <a:prstGeom prst="rect">
            <a:avLst/>
          </a:prstGeom>
          <a:noFill/>
        </p:spPr>
        <p:txBody>
          <a:bodyPr wrap="square" rtlCol="0">
            <a:spAutoFit/>
          </a:bodyPr>
          <a:lstStyle/>
          <a:p>
            <a:r>
              <a:rPr lang="en-US" sz="2400" dirty="0"/>
              <a:t>Navigating this requires certain knowledge and skills</a:t>
            </a:r>
          </a:p>
        </p:txBody>
      </p:sp>
    </p:spTree>
    <p:extLst>
      <p:ext uri="{BB962C8B-B14F-4D97-AF65-F5344CB8AC3E}">
        <p14:creationId xmlns:p14="http://schemas.microsoft.com/office/powerpoint/2010/main" val="1749842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B41B6-CEF0-FE41-932D-D4E1E49057F7}"/>
              </a:ext>
            </a:extLst>
          </p:cNvPr>
          <p:cNvSpPr>
            <a:spLocks noGrp="1"/>
          </p:cNvSpPr>
          <p:nvPr>
            <p:ph type="title"/>
          </p:nvPr>
        </p:nvSpPr>
        <p:spPr/>
        <p:txBody>
          <a:bodyPr/>
          <a:lstStyle/>
          <a:p>
            <a:r>
              <a:rPr lang="en-US" dirty="0"/>
              <a:t>Presentations</a:t>
            </a:r>
          </a:p>
        </p:txBody>
      </p:sp>
      <p:sp>
        <p:nvSpPr>
          <p:cNvPr id="4" name="TextBox 3">
            <a:extLst>
              <a:ext uri="{FF2B5EF4-FFF2-40B4-BE49-F238E27FC236}">
                <a16:creationId xmlns:a16="http://schemas.microsoft.com/office/drawing/2014/main" id="{A08C1A41-5362-4D91-2A70-4C448C7B3DBB}"/>
              </a:ext>
            </a:extLst>
          </p:cNvPr>
          <p:cNvSpPr txBox="1"/>
          <p:nvPr/>
        </p:nvSpPr>
        <p:spPr>
          <a:xfrm>
            <a:off x="2559683" y="2116290"/>
            <a:ext cx="7599078"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t>Version control and collaboration 	(Malcolm)</a:t>
            </a:r>
          </a:p>
          <a:p>
            <a:pPr marL="285750" indent="-285750">
              <a:buFont typeface="Arial" panose="020B0604020202020204" pitchFamily="34" charset="0"/>
              <a:buChar char="•"/>
            </a:pPr>
            <a:r>
              <a:rPr lang="en-US" sz="2400" dirty="0"/>
              <a:t>Environment management		(Jean)</a:t>
            </a:r>
          </a:p>
          <a:p>
            <a:pPr marL="285750" indent="-285750">
              <a:buFont typeface="Arial" panose="020B0604020202020204" pitchFamily="34" charset="0"/>
              <a:buChar char="•"/>
            </a:pPr>
            <a:r>
              <a:rPr lang="en-US" sz="2400" dirty="0"/>
              <a:t>Running Python scripts			(Jean)</a:t>
            </a:r>
          </a:p>
          <a:p>
            <a:pPr marL="285750" indent="-285750">
              <a:buFont typeface="Arial" panose="020B0604020202020204" pitchFamily="34" charset="0"/>
              <a:buChar char="•"/>
            </a:pPr>
            <a:r>
              <a:rPr lang="en-US" sz="2400" dirty="0"/>
              <a:t>Introduction to ORNL file systems	(Andrei)</a:t>
            </a:r>
          </a:p>
          <a:p>
            <a:pPr marL="285750" indent="-285750">
              <a:buFont typeface="Arial" panose="020B0604020202020204" pitchFamily="34" charset="0"/>
              <a:buChar char="•"/>
            </a:pPr>
            <a:r>
              <a:rPr lang="en-US" sz="2400" dirty="0"/>
              <a:t>AI						(Mat)</a:t>
            </a:r>
          </a:p>
          <a:p>
            <a:endParaRPr lang="en-US" sz="2400" dirty="0"/>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1897764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4F25B-8574-024B-B0D2-EE31485F7515}"/>
              </a:ext>
            </a:extLst>
          </p:cNvPr>
          <p:cNvSpPr>
            <a:spLocks noGrp="1"/>
          </p:cNvSpPr>
          <p:nvPr>
            <p:ph type="title"/>
          </p:nvPr>
        </p:nvSpPr>
        <p:spPr/>
        <p:txBody>
          <a:bodyPr/>
          <a:lstStyle/>
          <a:p>
            <a:r>
              <a:rPr lang="en-US" dirty="0"/>
              <a:t>Tutorials</a:t>
            </a:r>
          </a:p>
        </p:txBody>
      </p:sp>
      <p:sp>
        <p:nvSpPr>
          <p:cNvPr id="4" name="TextBox 3">
            <a:extLst>
              <a:ext uri="{FF2B5EF4-FFF2-40B4-BE49-F238E27FC236}">
                <a16:creationId xmlns:a16="http://schemas.microsoft.com/office/drawing/2014/main" id="{FF1B1281-A128-50B9-5D46-8A79D2534038}"/>
              </a:ext>
            </a:extLst>
          </p:cNvPr>
          <p:cNvSpPr txBox="1"/>
          <p:nvPr/>
        </p:nvSpPr>
        <p:spPr>
          <a:xfrm>
            <a:off x="3217605" y="2654667"/>
            <a:ext cx="7317873"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Create a git repo 		(Malcolm)</a:t>
            </a:r>
          </a:p>
          <a:p>
            <a:pPr marL="285750" indent="-285750">
              <a:buFont typeface="Arial" panose="020B0604020202020204" pitchFamily="34" charset="0"/>
              <a:buChar char="•"/>
            </a:pPr>
            <a:r>
              <a:rPr lang="en-US" sz="2400" dirty="0" err="1"/>
              <a:t>Jupyter</a:t>
            </a:r>
            <a:r>
              <a:rPr lang="en-US" sz="2400" dirty="0"/>
              <a:t> notebooks 	(Jean)</a:t>
            </a:r>
          </a:p>
          <a:p>
            <a:pPr marL="285750" indent="-285750">
              <a:buFont typeface="Arial" panose="020B0604020202020204" pitchFamily="34" charset="0"/>
              <a:buChar char="•"/>
            </a:pPr>
            <a:r>
              <a:rPr lang="en-US" sz="2400" dirty="0"/>
              <a:t>Fitting data 		(Zach)</a:t>
            </a:r>
          </a:p>
          <a:p>
            <a:pPr marL="285750" indent="-285750">
              <a:buFont typeface="Arial" panose="020B0604020202020204" pitchFamily="34" charset="0"/>
              <a:buChar char="•"/>
            </a:pPr>
            <a:r>
              <a:rPr lang="en-US" sz="2400" dirty="0"/>
              <a:t>Vibe coding Tutorial 	(All)</a:t>
            </a:r>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1406235346"/>
      </p:ext>
    </p:extLst>
  </p:cSld>
  <p:clrMapOvr>
    <a:masterClrMapping/>
  </p:clrMapOvr>
</p:sld>
</file>

<file path=ppt/theme/theme1.xml><?xml version="1.0" encoding="utf-8"?>
<a:theme xmlns:a="http://schemas.openxmlformats.org/drawingml/2006/main" name="ORNL Presentation">
  <a:themeElements>
    <a:clrScheme name="ORNL Color TEST">
      <a:dk1>
        <a:srgbClr val="373A36"/>
      </a:dk1>
      <a:lt1>
        <a:srgbClr val="FFFFFF"/>
      </a:lt1>
      <a:dk2>
        <a:srgbClr val="00662C"/>
      </a:dk2>
      <a:lt2>
        <a:srgbClr val="DBDCDB"/>
      </a:lt2>
      <a:accent1>
        <a:srgbClr val="00454D"/>
      </a:accent1>
      <a:accent2>
        <a:srgbClr val="006BA6"/>
      </a:accent2>
      <a:accent3>
        <a:srgbClr val="00B38F"/>
      </a:accent3>
      <a:accent4>
        <a:srgbClr val="7DBA00"/>
      </a:accent4>
      <a:accent5>
        <a:srgbClr val="FF9E1B"/>
      </a:accent5>
      <a:accent6>
        <a:srgbClr val="B50093"/>
      </a:accent6>
      <a:hlink>
        <a:srgbClr val="00BDB5"/>
      </a:hlink>
      <a:folHlink>
        <a:srgbClr val="00662C"/>
      </a:folHlink>
    </a:clrScheme>
    <a:fontScheme name="ORNL">
      <a:majorFont>
        <a:latin typeface="Roboto Black"/>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ORNL Green">
      <a:srgbClr val="00662C"/>
    </a:custClr>
    <a:custClr name="Hale Navy">
      <a:srgbClr val="00454D"/>
    </a:custClr>
    <a:custClr name="Graphite">
      <a:srgbClr val="DBDCDB"/>
    </a:custClr>
    <a:custClr name="Polar">
      <a:srgbClr val="FFFFFF"/>
    </a:custClr>
    <a:custClr name="Dark Matter">
      <a:srgbClr val="373A36"/>
    </a:custClr>
    <a:custClr name="Energy">
      <a:srgbClr val="7DBA00"/>
    </a:custClr>
    <a:custClr name="Mist">
      <a:srgbClr val="8BFEBF"/>
    </a:custClr>
    <a:custClr name="Biome">
      <a:srgbClr val="00B38F"/>
    </a:custClr>
    <a:custClr name="Aqua">
      <a:srgbClr val="00BDB5"/>
    </a:custClr>
    <a:custClr name="Infinity">
      <a:srgbClr val="006BA6"/>
    </a:custClr>
    <a:custClr name="Hydro">
      <a:srgbClr val="005776"/>
    </a:custClr>
    <a:custClr name="Forge">
      <a:srgbClr val="FF9E1B"/>
    </a:custClr>
    <a:custClr name="Spark">
      <a:srgbClr val="FE5000"/>
    </a:custClr>
    <a:custClr name="Plasma">
      <a:srgbClr val="B50094"/>
    </a:custClr>
    <a:custClr name="Pulsar">
      <a:srgbClr val="4E008E"/>
    </a:custClr>
  </a:custClrLst>
  <a:extLst>
    <a:ext uri="{05A4C25C-085E-4340-85A3-A5531E510DB2}">
      <thm15:themeFamily xmlns:thm15="http://schemas.microsoft.com/office/thememl/2012/main" name="ORNL-Presentation-16x9-NScD" id="{A9A43216-1C75-9644-ADE5-68792AE0DFAA}" vid="{7EDBB210-B5AA-6543-A12C-541DA07320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ORNL Presentation</Template>
  <TotalTime>272</TotalTime>
  <Words>343</Words>
  <Application>Microsoft Macintosh PowerPoint</Application>
  <PresentationFormat>Widescreen</PresentationFormat>
  <Paragraphs>68</Paragraphs>
  <Slides>9</Slides>
  <Notes>5</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Roboto</vt:lpstr>
      <vt:lpstr>Roboto Light</vt:lpstr>
      <vt:lpstr>ORNL Presentation</vt:lpstr>
      <vt:lpstr>Intro: What is Scientific Computing?</vt:lpstr>
      <vt:lpstr>Science creates, processes and interprets data</vt:lpstr>
      <vt:lpstr>Science creates, processes and interprets data</vt:lpstr>
      <vt:lpstr>Science creates, processes and interprets data</vt:lpstr>
      <vt:lpstr>Example: mantid</vt:lpstr>
      <vt:lpstr>Some questions to ask when creating software in 2025</vt:lpstr>
      <vt:lpstr>Some questions to ask when creating software in 2025 2026</vt:lpstr>
      <vt:lpstr>Presentations</vt:lpstr>
      <vt:lpstr>Tutorials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Guthrie, Malcolm</dc:creator>
  <cp:lastModifiedBy>Guthrie, Malcolm</cp:lastModifiedBy>
  <cp:revision>23</cp:revision>
  <dcterms:created xsi:type="dcterms:W3CDTF">2025-09-05T14:02:40Z</dcterms:created>
  <dcterms:modified xsi:type="dcterms:W3CDTF">2026-08-25T16:51:40Z</dcterms:modified>
</cp:coreProperties>
</file>
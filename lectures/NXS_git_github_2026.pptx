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1" r:id="rId4"/>
  </p:sldMasterIdLst>
  <p:notesMasterIdLst>
    <p:notesMasterId r:id="rId25"/>
  </p:notesMasterIdLst>
  <p:handoutMasterIdLst>
    <p:handoutMasterId r:id="rId26"/>
  </p:handoutMasterIdLst>
  <p:sldIdLst>
    <p:sldId id="2147481337" r:id="rId5"/>
    <p:sldId id="2147481328" r:id="rId6"/>
    <p:sldId id="2147481341" r:id="rId7"/>
    <p:sldId id="2147481348" r:id="rId8"/>
    <p:sldId id="2147481343" r:id="rId9"/>
    <p:sldId id="2147481345" r:id="rId10"/>
    <p:sldId id="2147481346" r:id="rId11"/>
    <p:sldId id="284" r:id="rId12"/>
    <p:sldId id="285" r:id="rId13"/>
    <p:sldId id="290" r:id="rId14"/>
    <p:sldId id="297" r:id="rId15"/>
    <p:sldId id="291" r:id="rId16"/>
    <p:sldId id="286" r:id="rId17"/>
    <p:sldId id="288" r:id="rId18"/>
    <p:sldId id="289" r:id="rId19"/>
    <p:sldId id="287" r:id="rId20"/>
    <p:sldId id="2147481342" r:id="rId21"/>
    <p:sldId id="2147481350" r:id="rId22"/>
    <p:sldId id="2147481347" r:id="rId23"/>
    <p:sldId id="2147481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476F3E-2B2C-D02E-A927-755D46376812}" name="Elicia Ferrer" initials="EF" userId="ac7d01b8666ae590" providerId="Windows Live"/>
  <p188:author id="{BEF8CA72-6AE8-8AD8-5B9A-8F576BAC3FD5}" name="Janiga, Jaimee" initials="JJ" userId="S::7nj@ornl.gov::c06abe94-9752-4f8c-96a2-49efdf1f63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1E5B"/>
    <a:srgbClr val="DDDDDD"/>
    <a:srgbClr val="F3F3F2"/>
    <a:srgbClr val="7DBA00"/>
    <a:srgbClr val="FF9E1B"/>
    <a:srgbClr val="7DC397"/>
    <a:srgbClr val="ECECEC"/>
    <a:srgbClr val="4E008E"/>
    <a:srgbClr val="B50094"/>
    <a:srgbClr val="FE5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80822"/>
  </p:normalViewPr>
  <p:slideViewPr>
    <p:cSldViewPr snapToGrid="0">
      <p:cViewPr varScale="1">
        <p:scale>
          <a:sx n="97" d="100"/>
          <a:sy n="97" d="100"/>
        </p:scale>
        <p:origin x="2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05" d="100"/>
          <a:sy n="105" d="100"/>
        </p:scale>
        <p:origin x="4152" y="-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F454D-A2FB-E28F-62C2-050A837E17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6BDF-7ADA-716C-F5CA-D157A094BB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14C3F-0AF5-DA4C-84F9-3990FF0B58A5}" type="datetimeFigureOut">
              <a:rPr lang="en-US" smtClean="0">
                <a:latin typeface="Aptos" panose="020B0004020202020204" pitchFamily="34" charset="0"/>
              </a:rPr>
              <a:t>8/25/26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7AF2-C6EF-69B3-EBC0-F3BECE6632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AEBCA-6ABE-1DFD-7AA8-A3B2F1B63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AB913-EDAA-C746-870D-9B7877FA5A85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90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9F2D4C33-E834-184F-A85B-4B1A7D742F82}" type="datetimeFigureOut">
              <a:rPr lang="en-US" smtClean="0"/>
              <a:pPr/>
              <a:t>8/25/26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CEEA2CD3-FB95-D94F-9F04-F9F995EAB8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3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77446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b="0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75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F02E-C29D-F7EB-F743-00388C4C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4E7D1-F6E3-BBE0-A3B1-774C9AEE8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81871-C06B-21BC-532F-F28C2D82A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774459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</a:pPr>
            <a:endParaRPr lang="en-US" sz="1200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B7DB-17D1-CF59-258D-F1E7B58FC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6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B4BD-9900-1D58-E3F3-5B3FC01B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54384-C665-3905-5CDE-732A23FD7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57B65-767A-0BD7-FF4B-41F7C50BB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774459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</a:pPr>
            <a:endParaRPr lang="en-US" sz="1200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BC678-7214-06D9-8308-809E25FDF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99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P07743 - Edited by Laddy Fields&#10;&#10;Drone Mission - Aerial view of ORNL's east Campus Quad facing southwest.&#10;&#10;This image has been reviewed by an ORNL Releasing Official and is approved for public release, May 19, 2025.">
            <a:extLst>
              <a:ext uri="{FF2B5EF4-FFF2-40B4-BE49-F238E27FC236}">
                <a16:creationId xmlns:a16="http://schemas.microsoft.com/office/drawing/2014/main" id="{01F17512-BEEB-E940-3B9F-9FDBDB2121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/>
          <p:nvPr userDrawn="1"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713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Aptos Light" panose="020B0004020202020204" pitchFamily="34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4748"/>
              </a:solidFill>
              <a:latin typeface="Aptos Light" panose="020B0004020202020204" pitchFamily="34" charset="0"/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D47623-818A-705B-B821-F058B0BC95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89A2CD0-329A-AD66-9E82-A1DB6C6F93A4}"/>
              </a:ext>
            </a:extLst>
          </p:cNvPr>
          <p:cNvGrpSpPr/>
          <p:nvPr userDrawn="1"/>
        </p:nvGrpSpPr>
        <p:grpSpPr>
          <a:xfrm>
            <a:off x="1177351" y="5301081"/>
            <a:ext cx="4558967" cy="438406"/>
            <a:chOff x="1177351" y="5301081"/>
            <a:chExt cx="4558967" cy="4384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CD3442-F157-B130-4C8C-C1C6563CA624}"/>
                </a:ext>
              </a:extLst>
            </p:cNvPr>
            <p:cNvSpPr txBox="1"/>
            <p:nvPr userDrawn="1"/>
          </p:nvSpPr>
          <p:spPr>
            <a:xfrm>
              <a:off x="2688336" y="5344755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7" name="Picture 6" descr="Shape&#10;&#10;AI-generated content may be incorrect.">
              <a:extLst>
                <a:ext uri="{FF2B5EF4-FFF2-40B4-BE49-F238E27FC236}">
                  <a16:creationId xmlns:a16="http://schemas.microsoft.com/office/drawing/2014/main" id="{442A6DA9-8C3C-81D4-6B8A-D16A90DD9B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77351" y="5301081"/>
              <a:ext cx="1526303" cy="43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07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/>
          <p:nvPr userDrawn="1"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80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43" name="Text Placeholder 1961">
            <a:extLst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80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67997A1-375F-1726-DF9D-576251F05B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7" name="Text Placeholder 1963">
            <a:extLst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4748"/>
              </a:solidFill>
              <a:latin typeface="Aptos Light" panose="020B00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BE50A6-F625-0BB9-2DA3-BD2A1D5A1C99}"/>
              </a:ext>
            </a:extLst>
          </p:cNvPr>
          <p:cNvGrpSpPr/>
          <p:nvPr userDrawn="1"/>
        </p:nvGrpSpPr>
        <p:grpSpPr>
          <a:xfrm>
            <a:off x="1177351" y="5301081"/>
            <a:ext cx="4558967" cy="438406"/>
            <a:chOff x="1177351" y="5301081"/>
            <a:chExt cx="4558967" cy="4384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46153C1-920A-60DA-AB29-D732EC8AD9DD}"/>
                </a:ext>
              </a:extLst>
            </p:cNvPr>
            <p:cNvSpPr txBox="1"/>
            <p:nvPr userDrawn="1"/>
          </p:nvSpPr>
          <p:spPr>
            <a:xfrm>
              <a:off x="2688336" y="5344755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4" name="Picture 3" descr="Shape&#10;&#10;AI-generated content may be incorrect.">
              <a:extLst>
                <a:ext uri="{FF2B5EF4-FFF2-40B4-BE49-F238E27FC236}">
                  <a16:creationId xmlns:a16="http://schemas.microsoft.com/office/drawing/2014/main" id="{2B8A78FF-CBBF-0925-0C04-834044AF1A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77351" y="5301081"/>
              <a:ext cx="1526303" cy="438406"/>
            </a:xfrm>
            <a:prstGeom prst="rect">
              <a:avLst/>
            </a:prstGeom>
          </p:spPr>
        </p:pic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9461967E-4A3D-99FD-12D2-D204FBEBAF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362030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Portrai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85">
            <a:extLst>
              <a:ext uri="{FF2B5EF4-FFF2-40B4-BE49-F238E27FC236}">
                <a16:creationId xmlns:a16="http://schemas.microsoft.com/office/drawing/2014/main" id="{B10B79AB-DA35-C9D9-2529-6A8AA0E50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45200" y="0"/>
            <a:ext cx="61468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F2EFFC1-8D00-2422-39D7-701FD30A5CDF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7F60E2-2A56-9EB3-6B56-9299A963E1AB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10" name="Picture 9" descr="Text&#10;&#10;AI-generated content may be incorrect.">
              <a:extLst>
                <a:ext uri="{FF2B5EF4-FFF2-40B4-BE49-F238E27FC236}">
                  <a16:creationId xmlns:a16="http://schemas.microsoft.com/office/drawing/2014/main" id="{E05B343D-85E7-C42A-D96E-37A8AB109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13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Landscap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09063" y="1481958"/>
            <a:ext cx="5843239" cy="38916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8EA40F8-43C7-91B8-DB7E-DDD5E2408A38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52F9E3-A27C-53E8-B52E-49794F69B0DB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7" name="Picture 6" descr="Text&#10;&#10;AI-generated content may be incorrect.">
              <a:extLst>
                <a:ext uri="{FF2B5EF4-FFF2-40B4-BE49-F238E27FC236}">
                  <a16:creationId xmlns:a16="http://schemas.microsoft.com/office/drawing/2014/main" id="{DB53C206-3DA3-C765-EB66-A35BBF7054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88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 Tex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285">
            <a:extLst>
              <a:ext uri="{FF2B5EF4-FFF2-40B4-BE49-F238E27FC236}">
                <a16:creationId xmlns:a16="http://schemas.microsoft.com/office/drawing/2014/main" id="{A95873F9-24C5-691B-E0D0-B31D39B7FB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6" y="2292076"/>
            <a:ext cx="103966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Title: Best Title Option for Longer Presentation Titles (Text Size no larger than 36pt and no smaller than 20pt)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6" y="4019391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6" y="1880997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6" y="4371534"/>
            <a:ext cx="10396685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6" y="4881013"/>
            <a:ext cx="10396685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8B2AD18-B7D9-77F5-D220-3EDA560B2C83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E0B571-503C-1E4E-4585-513FD2198B27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9" name="Picture 8" descr="Text&#10;&#10;AI-generated content may be incorrect.">
              <a:extLst>
                <a:ext uri="{FF2B5EF4-FFF2-40B4-BE49-F238E27FC236}">
                  <a16:creationId xmlns:a16="http://schemas.microsoft.com/office/drawing/2014/main" id="{2FD5B24E-06B1-CD75-BC26-A89AA432FA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69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11492432" cy="4061829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90023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Ke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/>
          <p:nvPr userDrawn="1"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3899310" cy="19009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631247"/>
            <a:ext cx="3899310" cy="351113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78363" y="0"/>
            <a:ext cx="7513637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59A002-CFDF-58EF-945F-28E943618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7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Hexagon Cut-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9371" y="-23484"/>
            <a:ext cx="6737350" cy="6865418"/>
          </a:xfrm>
          <a:custGeom>
            <a:avLst/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4412934" cy="1772793"/>
          </a:xfrm>
        </p:spPr>
        <p:txBody>
          <a:bodyPr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3" y="2514601"/>
            <a:ext cx="4412934" cy="3756990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355420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tacked 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5400" y="-6350"/>
            <a:ext cx="4546600" cy="2155825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5400" y="2352675"/>
            <a:ext cx="4546600" cy="2149475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5400" y="4703763"/>
            <a:ext cx="4546600" cy="215423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1006475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59"/>
            <a:ext cx="6763894" cy="432482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6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</p:spTree>
    <p:extLst>
      <p:ext uri="{BB962C8B-B14F-4D97-AF65-F5344CB8AC3E}">
        <p14:creationId xmlns:p14="http://schemas.microsoft.com/office/powerpoint/2010/main" val="411557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</p:spTree>
    <p:extLst>
      <p:ext uri="{BB962C8B-B14F-4D97-AF65-F5344CB8AC3E}">
        <p14:creationId xmlns:p14="http://schemas.microsoft.com/office/powerpoint/2010/main" val="2409650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172851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908273-EAF5-86C7-7DA1-4B3A63FA40A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8AC23A-F6F3-1406-A41C-A53D31762F5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990C39-D2EB-2C24-D563-540A447C898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55018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674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54A7-39D8-F93F-8AB5-8AFDA80ABC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33C006-27BF-E46C-6464-DF2AED8EF3C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2DE149-7914-DD03-AF2A-717A4DBC4C4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63E755-9A43-BCF9-FC26-D2B9312D44A8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34581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51529"/>
            <a:ext cx="5528426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7905" y="2151529"/>
            <a:ext cx="5534113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E5D92591-51DF-3209-1704-154E381BA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5534113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322623F-B85A-91ED-9131-7E60FBA08A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429" y="1636672"/>
            <a:ext cx="5534113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000835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365069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2191870"/>
            <a:ext cx="364642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2191870"/>
            <a:ext cx="364739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0EDE83FF-6880-0C2B-F666-A52972148F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8CEEB1B0-74A1-A9A5-0E01-2E2E2380F2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1283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B1FC136-726A-E90A-AA01-55CC4CA7F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9995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01445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2743968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2191870"/>
            <a:ext cx="274076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2191870"/>
            <a:ext cx="2741489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2191870"/>
            <a:ext cx="2737553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A8FB3702-489D-7133-5029-0EED83D742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2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sp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A472ABD6-D4AF-51A3-D274-EB02E1F7D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70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9B2846D9-98D8-E207-8370-E81B28729B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476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7" name="Text Placeholder 212">
            <a:extLst>
              <a:ext uri="{FF2B5EF4-FFF2-40B4-BE49-F238E27FC236}">
                <a16:creationId xmlns:a16="http://schemas.microsoft.com/office/drawing/2014/main" id="{5A4E93FB-938D-13A6-A78B-46943641C3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957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49818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/>
          <p:nvPr userDrawn="1"/>
        </p:nvSpPr>
        <p:spPr>
          <a:xfrm>
            <a:off x="0" y="2874040"/>
            <a:ext cx="12192000" cy="3983959"/>
          </a:xfrm>
          <a:custGeom>
            <a:avLst/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61" name="Picture Placeholder 360">
            <a:extLst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62" name="Picture Placeholder 360">
            <a:extLst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63" name="Picture Placeholder 360">
            <a:extLst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39855A-2E65-D041-0145-9228A25DEC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068199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285">
            <a:extLst>
              <a:ext uri="{FF2B5EF4-FFF2-40B4-BE49-F238E27FC236}">
                <a16:creationId xmlns:a16="http://schemas.microsoft.com/office/drawing/2014/main" id="{33C27B49-A27E-0D8E-47DA-07C46ED6F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88639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B6C3CAB0-9F19-5F7D-262F-075849CDF9D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F6D66F89-B82D-509A-9415-1271514F009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5B2950D5-5445-9250-7264-D5F1C7CFF62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00EE450A-4A48-CD8F-195B-EFA7253FE3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6D24BE53-367A-F7EE-4A10-86C720DD94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C5AB6D40-14EE-39E1-1C1E-DD4771CAD9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652793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917575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62FE7C8B-D853-CA32-F02A-E0E431FE24C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25985483-66E5-0277-9E8E-8234D001A48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E1C6DB72-7F04-7416-51DB-F05F0035A595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D0DEB0A1-96DC-E93B-DFED-C24D86572D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1A9B287A-BCA2-477B-B96F-5895AA3949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058C8352-E125-59CC-3CDA-4422103AE8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96653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17" name="Picture Placeholder 122">
            <a:extLst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07498" y="1371574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22">
            <a:extLst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51474" y="3039052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22">
            <a:extLst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196136" y="4707798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46ACBB2B-C7F0-E810-9B2C-BD70D1820D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62830" y="1376146"/>
            <a:ext cx="1744662" cy="1485900"/>
          </a:xfrm>
          <a:solidFill>
            <a:schemeClr val="accent5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5AB8117-0D0B-F4A2-5D9D-8D07A6153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492" y="3043624"/>
            <a:ext cx="1744662" cy="1485900"/>
          </a:xfrm>
          <a:solidFill>
            <a:schemeClr val="accent4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69DCCB0-CA4C-C341-313C-4C6AB851C3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1474" y="4712370"/>
            <a:ext cx="1744662" cy="1485900"/>
          </a:xfrm>
          <a:solidFill>
            <a:schemeClr val="accent3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783067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Image Series Colo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0965" y="1758896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65" y="3911299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21865" y="1758896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360">
            <a:extLst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21865" y="3911299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4410" y="3911299"/>
            <a:ext cx="2192338" cy="1873250"/>
          </a:xfrm>
          <a:solidFill>
            <a:schemeClr val="accent6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9527" y="1758896"/>
            <a:ext cx="2192338" cy="1873250"/>
          </a:xfrm>
          <a:solidFill>
            <a:schemeClr val="accent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9527" y="3911299"/>
            <a:ext cx="2192338" cy="1873250"/>
          </a:xfrm>
          <a:solidFill>
            <a:schemeClr val="accent4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FD3A4D06-1EC0-67D1-BF1F-4A91D1E341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4410" y="1758896"/>
            <a:ext cx="2192338" cy="1873250"/>
          </a:xfrm>
          <a:solidFill>
            <a:schemeClr val="tx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6649671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Image Series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68099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26F353B8-FF4B-42ED-1CE7-EDC4F7EF61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68099" y="3012831"/>
            <a:ext cx="2658427" cy="656942"/>
          </a:xfrm>
          <a:solidFill>
            <a:schemeClr val="tx2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6E81FCDA-4DA3-AB4A-5D95-88A3FEFC3A2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68099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F669257-B949-89C3-AFAB-C056282DB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8099" y="5507582"/>
            <a:ext cx="2658427" cy="656942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13D2DA25-934B-21FF-2966-29EF546C48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66787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17D533C8-B6CD-B35B-9678-CFA2D4FF7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6787" y="3012831"/>
            <a:ext cx="2658427" cy="656942"/>
          </a:xfrm>
          <a:solidFill>
            <a:schemeClr val="accent3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FFFA52E8-8238-7D32-74C3-C442340BAC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66787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EAA931B9-F65E-5FA9-1A52-F298BEA03A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6787" y="5507582"/>
            <a:ext cx="2658427" cy="656942"/>
          </a:xfrm>
          <a:solidFill>
            <a:schemeClr val="accent4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1" name="Picture Placeholder 360">
            <a:extLst>
              <a:ext uri="{FF2B5EF4-FFF2-40B4-BE49-F238E27FC236}">
                <a16:creationId xmlns:a16="http://schemas.microsoft.com/office/drawing/2014/main" id="{E2163388-A63C-577D-E1F5-098DA5ECC07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065474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6A354D75-2850-EFEF-9B6E-16282EFCD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5474" y="3012831"/>
            <a:ext cx="2658427" cy="656942"/>
          </a:xfrm>
          <a:solidFill>
            <a:schemeClr val="accent6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3" name="Picture Placeholder 360">
            <a:extLst>
              <a:ext uri="{FF2B5EF4-FFF2-40B4-BE49-F238E27FC236}">
                <a16:creationId xmlns:a16="http://schemas.microsoft.com/office/drawing/2014/main" id="{FBABECBC-CDDA-6887-FB75-25BC231CEC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65474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AA63FF33-3432-1D2E-53DE-B6F0895069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5474" y="5507582"/>
            <a:ext cx="2658427" cy="656942"/>
          </a:xfrm>
          <a:solidFill>
            <a:schemeClr val="tx1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858181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0445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0079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9584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9218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08182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7640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06077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5711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03782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03416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" name="Picture Placeholder 360">
            <a:extLst>
              <a:ext uri="{FF2B5EF4-FFF2-40B4-BE49-F238E27FC236}">
                <a16:creationId xmlns:a16="http://schemas.microsoft.com/office/drawing/2014/main" id="{50C0265D-4C37-A6EB-018A-088C3665D77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10079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171DB7C-B77B-BA2F-D42D-E70799E1CF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9713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54228786-C065-7CF8-8C9C-C9622BDB5F7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409218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3BA11-280F-ED2F-8FE5-AD08B0D44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08852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D0FFE670-33BD-AB72-DB9E-26A7E5785E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07816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6FD3033-3412-943B-9B60-3555F20EAC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07274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D90F4C59-A65F-7802-34A6-70D69C5041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05711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34846F9-F8EB-3656-08DF-03E1A00CD6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5345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9694CBBD-6AE6-ADDC-80FB-FDFA2458BCB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103416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DB0CCF3-7E0B-FACF-F244-CCF6EC2D93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3050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793375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46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3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910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907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674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71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438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435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202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99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7" name="Picture Placeholder 360">
            <a:extLst>
              <a:ext uri="{FF2B5EF4-FFF2-40B4-BE49-F238E27FC236}">
                <a16:creationId xmlns:a16="http://schemas.microsoft.com/office/drawing/2014/main" id="{7EDA5855-F73F-935A-1566-720D38EC07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696325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A7A6897-50BB-69EA-CE0D-8428224909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95959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9" name="Picture Placeholder 360">
            <a:extLst>
              <a:ext uri="{FF2B5EF4-FFF2-40B4-BE49-F238E27FC236}">
                <a16:creationId xmlns:a16="http://schemas.microsoft.com/office/drawing/2014/main" id="{D09EF4CE-B526-1CEA-9EDD-34A61A70EE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71993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93FC27B-1624-B783-DF96-5521C31FB6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71627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1" name="Picture Placeholder 360">
            <a:extLst>
              <a:ext uri="{FF2B5EF4-FFF2-40B4-BE49-F238E27FC236}">
                <a16:creationId xmlns:a16="http://schemas.microsoft.com/office/drawing/2014/main" id="{5A8BA158-C0D0-7A81-D0D2-8428A63A3D7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71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9D4BA50-34B9-66B8-EAF5-82AF534969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67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3" name="Picture Placeholder 360">
            <a:extLst>
              <a:ext uri="{FF2B5EF4-FFF2-40B4-BE49-F238E27FC236}">
                <a16:creationId xmlns:a16="http://schemas.microsoft.com/office/drawing/2014/main" id="{9764F327-567A-B4BD-324B-5E6E4A38AE8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9935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81407771-83D8-01C3-0563-CE45ADD67E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931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5" name="Picture Placeholder 360">
            <a:extLst>
              <a:ext uri="{FF2B5EF4-FFF2-40B4-BE49-F238E27FC236}">
                <a16:creationId xmlns:a16="http://schemas.microsoft.com/office/drawing/2014/main" id="{053F6908-A1A4-51D5-C068-74AE8BBE857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6699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59B219-D993-9F5C-A25E-2717041313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695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7" name="Picture Placeholder 360">
            <a:extLst>
              <a:ext uri="{FF2B5EF4-FFF2-40B4-BE49-F238E27FC236}">
                <a16:creationId xmlns:a16="http://schemas.microsoft.com/office/drawing/2014/main" id="{3B1CFCF1-1BBA-A77B-07C5-CE89C6D37D8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463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24D5DB3-FDA3-34E1-683B-AF880C6B564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59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9" name="Picture Placeholder 360">
            <a:extLst>
              <a:ext uri="{FF2B5EF4-FFF2-40B4-BE49-F238E27FC236}">
                <a16:creationId xmlns:a16="http://schemas.microsoft.com/office/drawing/2014/main" id="{CD18FDA3-0BAD-70CF-4A1C-E0AC365F43E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0227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C7D472D-B446-D4C9-7FEA-8337576DA4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223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41" name="Picture Placeholder 360">
            <a:extLst>
              <a:ext uri="{FF2B5EF4-FFF2-40B4-BE49-F238E27FC236}">
                <a16:creationId xmlns:a16="http://schemas.microsoft.com/office/drawing/2014/main" id="{00CD14FC-B345-724A-1702-9ECB7309E7B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698785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A39A6918-941C-CFDA-46B7-7B3F5821B26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98419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43" name="Picture Placeholder 360">
            <a:extLst>
              <a:ext uri="{FF2B5EF4-FFF2-40B4-BE49-F238E27FC236}">
                <a16:creationId xmlns:a16="http://schemas.microsoft.com/office/drawing/2014/main" id="{13F06704-FC82-77D6-CD12-259FDE55A8D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374453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DAE33098-4EF0-1E1A-7F23-76F0D50AAC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74087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386488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2023-P05692: Jaimee edited &#10;&#10;Drone Mission - Aerial of ORNL East Campus facing west. May 9, 2023.&#10;">
            <a:extLst>
              <a:ext uri="{FF2B5EF4-FFF2-40B4-BE49-F238E27FC236}">
                <a16:creationId xmlns:a16="http://schemas.microsoft.com/office/drawing/2014/main" id="{29026065-7CE6-26BF-5E11-E2573F33E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089" b="20607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88" y="2258209"/>
            <a:ext cx="12081224" cy="664797"/>
          </a:xfrm>
        </p:spPr>
        <p:txBody>
          <a:bodyPr anchor="t" anchorCtr="0">
            <a:noAutofit/>
          </a:bodyPr>
          <a:lstStyle>
            <a:lvl1pPr algn="ctr">
              <a:spcBef>
                <a:spcPts val="1200"/>
              </a:spcBef>
              <a:spcAft>
                <a:spcPts val="60"/>
              </a:spcAft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437" y="2922742"/>
            <a:ext cx="12063127" cy="397032"/>
          </a:xfrm>
        </p:spPr>
        <p:txBody>
          <a:bodyPr tIns="91440"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PLACE CONTENT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787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157" y="2624569"/>
            <a:ext cx="11045686" cy="498598"/>
          </a:xfrm>
        </p:spPr>
        <p:txBody>
          <a:bodyPr anchor="t" anchorCtr="0">
            <a:no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</a:t>
            </a:r>
          </a:p>
        </p:txBody>
      </p:sp>
      <p:sp>
        <p:nvSpPr>
          <p:cNvPr id="320" name="Text Placeholder 368">
            <a:extLst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069" y="3774422"/>
            <a:ext cx="11062774" cy="249299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/>
          <p:nvPr userDrawn="1"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40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 + 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2025-P08154: Drone Mission - Aerial of sunrise over ORNL east campus, April 3, 2023.  &#10;&#10;Electronic Reference Image – For more images in this series, please contact, creativeservices@ornl.gov&#10;This image has been reviewed by an ORNL Releasing Official and is approved for public release, January 4, 2023.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94" t="5003" r="5511" b="5003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E904804-90C2-92CD-EBBE-DEE84A1EF57E}"/>
              </a:ext>
            </a:extLst>
          </p:cNvPr>
          <p:cNvGrpSpPr/>
          <p:nvPr userDrawn="1"/>
        </p:nvGrpSpPr>
        <p:grpSpPr>
          <a:xfrm>
            <a:off x="2230425" y="2155963"/>
            <a:ext cx="7731150" cy="1180116"/>
            <a:chOff x="2419238" y="1689595"/>
            <a:chExt cx="7333183" cy="1119369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B35B19EB-28CC-5046-67D8-0AC0F092D8F9}"/>
                </a:ext>
              </a:extLst>
            </p:cNvPr>
            <p:cNvSpPr/>
            <p:nvPr userDrawn="1"/>
          </p:nvSpPr>
          <p:spPr>
            <a:xfrm>
              <a:off x="6151118" y="1690962"/>
              <a:ext cx="1113318" cy="1113317"/>
            </a:xfrm>
            <a:custGeom>
              <a:avLst/>
              <a:gdLst>
                <a:gd name="connsiteX0" fmla="*/ 0 w 543306"/>
                <a:gd name="connsiteY0" fmla="*/ 0 h 543305"/>
                <a:gd name="connsiteX1" fmla="*/ 543306 w 543306"/>
                <a:gd name="connsiteY1" fmla="*/ 0 h 543305"/>
                <a:gd name="connsiteX2" fmla="*/ 543306 w 543306"/>
                <a:gd name="connsiteY2" fmla="*/ 543306 h 543305"/>
                <a:gd name="connsiteX3" fmla="*/ 0 w 543306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F8B7F74-14E3-0359-48F7-8887F481B3F3}"/>
                </a:ext>
              </a:extLst>
            </p:cNvPr>
            <p:cNvSpPr/>
            <p:nvPr userDrawn="1"/>
          </p:nvSpPr>
          <p:spPr>
            <a:xfrm>
              <a:off x="6531907" y="1870334"/>
              <a:ext cx="352119" cy="754014"/>
            </a:xfrm>
            <a:custGeom>
              <a:avLst/>
              <a:gdLst>
                <a:gd name="connsiteX0" fmla="*/ 136975 w 171836"/>
                <a:gd name="connsiteY0" fmla="*/ 62674 h 367963"/>
                <a:gd name="connsiteX1" fmla="*/ 167646 w 171836"/>
                <a:gd name="connsiteY1" fmla="*/ 62674 h 367963"/>
                <a:gd name="connsiteX2" fmla="*/ 171837 w 171836"/>
                <a:gd name="connsiteY2" fmla="*/ 58483 h 367963"/>
                <a:gd name="connsiteX3" fmla="*/ 171837 w 171836"/>
                <a:gd name="connsiteY3" fmla="*/ 3905 h 367963"/>
                <a:gd name="connsiteX4" fmla="*/ 168027 w 171836"/>
                <a:gd name="connsiteY4" fmla="*/ 0 h 367963"/>
                <a:gd name="connsiteX5" fmla="*/ 104305 w 171836"/>
                <a:gd name="connsiteY5" fmla="*/ 667 h 367963"/>
                <a:gd name="connsiteX6" fmla="*/ 53156 w 171836"/>
                <a:gd name="connsiteY6" fmla="*/ 26670 h 367963"/>
                <a:gd name="connsiteX7" fmla="*/ 38392 w 171836"/>
                <a:gd name="connsiteY7" fmla="*/ 72580 h 367963"/>
                <a:gd name="connsiteX8" fmla="*/ 38392 w 171836"/>
                <a:gd name="connsiteY8" fmla="*/ 113633 h 367963"/>
                <a:gd name="connsiteX9" fmla="*/ 32105 w 171836"/>
                <a:gd name="connsiteY9" fmla="*/ 120205 h 367963"/>
                <a:gd name="connsiteX10" fmla="*/ 4483 w 171836"/>
                <a:gd name="connsiteY10" fmla="*/ 120015 h 367963"/>
                <a:gd name="connsiteX11" fmla="*/ 6 w 171836"/>
                <a:gd name="connsiteY11" fmla="*/ 124492 h 367963"/>
                <a:gd name="connsiteX12" fmla="*/ 6 w 171836"/>
                <a:gd name="connsiteY12" fmla="*/ 178403 h 367963"/>
                <a:gd name="connsiteX13" fmla="*/ 4959 w 171836"/>
                <a:gd name="connsiteY13" fmla="*/ 183166 h 367963"/>
                <a:gd name="connsiteX14" fmla="*/ 31915 w 171836"/>
                <a:gd name="connsiteY14" fmla="*/ 182975 h 367963"/>
                <a:gd name="connsiteX15" fmla="*/ 38106 w 171836"/>
                <a:gd name="connsiteY15" fmla="*/ 189167 h 367963"/>
                <a:gd name="connsiteX16" fmla="*/ 38011 w 171836"/>
                <a:gd name="connsiteY16" fmla="*/ 275558 h 367963"/>
                <a:gd name="connsiteX17" fmla="*/ 37915 w 171836"/>
                <a:gd name="connsiteY17" fmla="*/ 360807 h 367963"/>
                <a:gd name="connsiteX18" fmla="*/ 44773 w 171836"/>
                <a:gd name="connsiteY18" fmla="*/ 367951 h 367963"/>
                <a:gd name="connsiteX19" fmla="*/ 107924 w 171836"/>
                <a:gd name="connsiteY19" fmla="*/ 367951 h 367963"/>
                <a:gd name="connsiteX20" fmla="*/ 115354 w 171836"/>
                <a:gd name="connsiteY20" fmla="*/ 360617 h 367963"/>
                <a:gd name="connsiteX21" fmla="*/ 115258 w 171836"/>
                <a:gd name="connsiteY21" fmla="*/ 191452 h 367963"/>
                <a:gd name="connsiteX22" fmla="*/ 123164 w 171836"/>
                <a:gd name="connsiteY22" fmla="*/ 183737 h 367963"/>
                <a:gd name="connsiteX23" fmla="*/ 159931 w 171836"/>
                <a:gd name="connsiteY23" fmla="*/ 183737 h 367963"/>
                <a:gd name="connsiteX24" fmla="*/ 165836 w 171836"/>
                <a:gd name="connsiteY24" fmla="*/ 178975 h 367963"/>
                <a:gd name="connsiteX25" fmla="*/ 170980 w 171836"/>
                <a:gd name="connsiteY25" fmla="*/ 124682 h 367963"/>
                <a:gd name="connsiteX26" fmla="*/ 165455 w 171836"/>
                <a:gd name="connsiteY26" fmla="*/ 118872 h 367963"/>
                <a:gd name="connsiteX27" fmla="*/ 118878 w 171836"/>
                <a:gd name="connsiteY27" fmla="*/ 118967 h 367963"/>
                <a:gd name="connsiteX28" fmla="*/ 114115 w 171836"/>
                <a:gd name="connsiteY28" fmla="*/ 115348 h 367963"/>
                <a:gd name="connsiteX29" fmla="*/ 114592 w 171836"/>
                <a:gd name="connsiteY29" fmla="*/ 82867 h 367963"/>
                <a:gd name="connsiteX30" fmla="*/ 137166 w 171836"/>
                <a:gd name="connsiteY30" fmla="*/ 62389 h 367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836" h="367963">
                  <a:moveTo>
                    <a:pt x="136975" y="62674"/>
                  </a:moveTo>
                  <a:cubicBezTo>
                    <a:pt x="147167" y="62674"/>
                    <a:pt x="157454" y="62579"/>
                    <a:pt x="167646" y="62674"/>
                  </a:cubicBezTo>
                  <a:cubicBezTo>
                    <a:pt x="170789" y="62674"/>
                    <a:pt x="171837" y="61722"/>
                    <a:pt x="171837" y="58483"/>
                  </a:cubicBezTo>
                  <a:cubicBezTo>
                    <a:pt x="171742" y="40291"/>
                    <a:pt x="171742" y="22098"/>
                    <a:pt x="171837" y="3905"/>
                  </a:cubicBezTo>
                  <a:cubicBezTo>
                    <a:pt x="171837" y="1048"/>
                    <a:pt x="170980" y="0"/>
                    <a:pt x="168027" y="0"/>
                  </a:cubicBezTo>
                  <a:cubicBezTo>
                    <a:pt x="146786" y="190"/>
                    <a:pt x="125546" y="-286"/>
                    <a:pt x="104305" y="667"/>
                  </a:cubicBezTo>
                  <a:cubicBezTo>
                    <a:pt x="83635" y="1619"/>
                    <a:pt x="65729" y="9430"/>
                    <a:pt x="53156" y="26670"/>
                  </a:cubicBezTo>
                  <a:cubicBezTo>
                    <a:pt x="43154" y="40291"/>
                    <a:pt x="38677" y="55817"/>
                    <a:pt x="38392" y="72580"/>
                  </a:cubicBezTo>
                  <a:cubicBezTo>
                    <a:pt x="38106" y="86296"/>
                    <a:pt x="38106" y="100013"/>
                    <a:pt x="38392" y="113633"/>
                  </a:cubicBezTo>
                  <a:cubicBezTo>
                    <a:pt x="38487" y="118586"/>
                    <a:pt x="37439" y="120491"/>
                    <a:pt x="32105" y="120205"/>
                  </a:cubicBezTo>
                  <a:cubicBezTo>
                    <a:pt x="22961" y="119729"/>
                    <a:pt x="13722" y="120205"/>
                    <a:pt x="4483" y="120015"/>
                  </a:cubicBezTo>
                  <a:cubicBezTo>
                    <a:pt x="958" y="120015"/>
                    <a:pt x="-89" y="121063"/>
                    <a:pt x="6" y="124492"/>
                  </a:cubicBezTo>
                  <a:cubicBezTo>
                    <a:pt x="197" y="142494"/>
                    <a:pt x="197" y="160496"/>
                    <a:pt x="6" y="178403"/>
                  </a:cubicBezTo>
                  <a:cubicBezTo>
                    <a:pt x="6" y="182213"/>
                    <a:pt x="1339" y="183261"/>
                    <a:pt x="4959" y="183166"/>
                  </a:cubicBezTo>
                  <a:cubicBezTo>
                    <a:pt x="13913" y="182975"/>
                    <a:pt x="22961" y="183356"/>
                    <a:pt x="31915" y="182975"/>
                  </a:cubicBezTo>
                  <a:cubicBezTo>
                    <a:pt x="36772" y="182785"/>
                    <a:pt x="38106" y="184309"/>
                    <a:pt x="38106" y="189167"/>
                  </a:cubicBezTo>
                  <a:cubicBezTo>
                    <a:pt x="37915" y="217932"/>
                    <a:pt x="38011" y="246793"/>
                    <a:pt x="38011" y="275558"/>
                  </a:cubicBezTo>
                  <a:cubicBezTo>
                    <a:pt x="38011" y="304324"/>
                    <a:pt x="38106" y="332327"/>
                    <a:pt x="37915" y="360807"/>
                  </a:cubicBezTo>
                  <a:cubicBezTo>
                    <a:pt x="37915" y="366141"/>
                    <a:pt x="38868" y="368141"/>
                    <a:pt x="44773" y="367951"/>
                  </a:cubicBezTo>
                  <a:cubicBezTo>
                    <a:pt x="65824" y="367570"/>
                    <a:pt x="86874" y="367570"/>
                    <a:pt x="107924" y="367951"/>
                  </a:cubicBezTo>
                  <a:cubicBezTo>
                    <a:pt x="113830" y="368046"/>
                    <a:pt x="115354" y="366617"/>
                    <a:pt x="115354" y="360617"/>
                  </a:cubicBezTo>
                  <a:cubicBezTo>
                    <a:pt x="115068" y="304229"/>
                    <a:pt x="115163" y="247841"/>
                    <a:pt x="115258" y="191452"/>
                  </a:cubicBezTo>
                  <a:cubicBezTo>
                    <a:pt x="115258" y="182499"/>
                    <a:pt x="114401" y="183833"/>
                    <a:pt x="123164" y="183737"/>
                  </a:cubicBezTo>
                  <a:cubicBezTo>
                    <a:pt x="135451" y="183737"/>
                    <a:pt x="147643" y="183642"/>
                    <a:pt x="159931" y="183737"/>
                  </a:cubicBezTo>
                  <a:cubicBezTo>
                    <a:pt x="163646" y="183737"/>
                    <a:pt x="165455" y="182975"/>
                    <a:pt x="165836" y="178975"/>
                  </a:cubicBezTo>
                  <a:cubicBezTo>
                    <a:pt x="167360" y="160877"/>
                    <a:pt x="169075" y="142780"/>
                    <a:pt x="170980" y="124682"/>
                  </a:cubicBezTo>
                  <a:cubicBezTo>
                    <a:pt x="171456" y="119920"/>
                    <a:pt x="170027" y="118872"/>
                    <a:pt x="165455" y="118872"/>
                  </a:cubicBezTo>
                  <a:cubicBezTo>
                    <a:pt x="149930" y="119158"/>
                    <a:pt x="134404" y="118872"/>
                    <a:pt x="118878" y="118967"/>
                  </a:cubicBezTo>
                  <a:cubicBezTo>
                    <a:pt x="116306" y="118967"/>
                    <a:pt x="114020" y="119253"/>
                    <a:pt x="114115" y="115348"/>
                  </a:cubicBezTo>
                  <a:cubicBezTo>
                    <a:pt x="114401" y="104489"/>
                    <a:pt x="113830" y="93631"/>
                    <a:pt x="114592" y="82867"/>
                  </a:cubicBezTo>
                  <a:cubicBezTo>
                    <a:pt x="115449" y="69437"/>
                    <a:pt x="123545" y="62389"/>
                    <a:pt x="137166" y="62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1A6707B-2CA3-3F65-45C2-727FD45B5C49}"/>
                </a:ext>
              </a:extLst>
            </p:cNvPr>
            <p:cNvSpPr/>
            <p:nvPr userDrawn="1"/>
          </p:nvSpPr>
          <p:spPr>
            <a:xfrm>
              <a:off x="4907224" y="1690572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4C61578-C993-8405-291A-DEF5EE57846B}"/>
                </a:ext>
              </a:extLst>
            </p:cNvPr>
            <p:cNvSpPr/>
            <p:nvPr userDrawn="1"/>
          </p:nvSpPr>
          <p:spPr>
            <a:xfrm>
              <a:off x="5613002" y="2009890"/>
              <a:ext cx="88611" cy="88611"/>
            </a:xfrm>
            <a:custGeom>
              <a:avLst/>
              <a:gdLst>
                <a:gd name="connsiteX0" fmla="*/ 21622 w 43243"/>
                <a:gd name="connsiteY0" fmla="*/ 0 h 43243"/>
                <a:gd name="connsiteX1" fmla="*/ 0 w 43243"/>
                <a:gd name="connsiteY1" fmla="*/ 21622 h 43243"/>
                <a:gd name="connsiteX2" fmla="*/ 21622 w 43243"/>
                <a:gd name="connsiteY2" fmla="*/ 43244 h 43243"/>
                <a:gd name="connsiteX3" fmla="*/ 43244 w 43243"/>
                <a:gd name="connsiteY3" fmla="*/ 21622 h 43243"/>
                <a:gd name="connsiteX4" fmla="*/ 21622 w 43243"/>
                <a:gd name="connsiteY4" fmla="*/ 0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3" h="43243">
                  <a:moveTo>
                    <a:pt x="21622" y="0"/>
                  </a:moveTo>
                  <a:cubicBezTo>
                    <a:pt x="9715" y="0"/>
                    <a:pt x="0" y="9716"/>
                    <a:pt x="0" y="21622"/>
                  </a:cubicBezTo>
                  <a:cubicBezTo>
                    <a:pt x="0" y="33528"/>
                    <a:pt x="9715" y="43244"/>
                    <a:pt x="21622" y="43244"/>
                  </a:cubicBezTo>
                  <a:cubicBezTo>
                    <a:pt x="33528" y="43244"/>
                    <a:pt x="43244" y="33528"/>
                    <a:pt x="43244" y="21622"/>
                  </a:cubicBezTo>
                  <a:cubicBezTo>
                    <a:pt x="43244" y="9716"/>
                    <a:pt x="33528" y="0"/>
                    <a:pt x="2162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74412687-F6B8-FF14-A681-2E7D9389F291}"/>
                </a:ext>
              </a:extLst>
            </p:cNvPr>
            <p:cNvSpPr/>
            <p:nvPr userDrawn="1"/>
          </p:nvSpPr>
          <p:spPr>
            <a:xfrm>
              <a:off x="5100064" y="1883412"/>
              <a:ext cx="727442" cy="727442"/>
            </a:xfrm>
            <a:custGeom>
              <a:avLst/>
              <a:gdLst>
                <a:gd name="connsiteX0" fmla="*/ 265462 w 354996"/>
                <a:gd name="connsiteY0" fmla="*/ 0 h 354996"/>
                <a:gd name="connsiteX1" fmla="*/ 89535 w 354996"/>
                <a:gd name="connsiteY1" fmla="*/ 0 h 354996"/>
                <a:gd name="connsiteX2" fmla="*/ 0 w 354996"/>
                <a:gd name="connsiteY2" fmla="*/ 89535 h 354996"/>
                <a:gd name="connsiteX3" fmla="*/ 0 w 354996"/>
                <a:gd name="connsiteY3" fmla="*/ 265462 h 354996"/>
                <a:gd name="connsiteX4" fmla="*/ 89535 w 354996"/>
                <a:gd name="connsiteY4" fmla="*/ 354997 h 354996"/>
                <a:gd name="connsiteX5" fmla="*/ 265462 w 354996"/>
                <a:gd name="connsiteY5" fmla="*/ 354997 h 354996"/>
                <a:gd name="connsiteX6" fmla="*/ 354997 w 354996"/>
                <a:gd name="connsiteY6" fmla="*/ 265462 h 354996"/>
                <a:gd name="connsiteX7" fmla="*/ 354997 w 354996"/>
                <a:gd name="connsiteY7" fmla="*/ 89535 h 354996"/>
                <a:gd name="connsiteX8" fmla="*/ 265462 w 354996"/>
                <a:gd name="connsiteY8" fmla="*/ 0 h 354996"/>
                <a:gd name="connsiteX9" fmla="*/ 316421 w 354996"/>
                <a:gd name="connsiteY9" fmla="*/ 265462 h 354996"/>
                <a:gd name="connsiteX10" fmla="*/ 265462 w 354996"/>
                <a:gd name="connsiteY10" fmla="*/ 316421 h 354996"/>
                <a:gd name="connsiteX11" fmla="*/ 89535 w 354996"/>
                <a:gd name="connsiteY11" fmla="*/ 316421 h 354996"/>
                <a:gd name="connsiteX12" fmla="*/ 38576 w 354996"/>
                <a:gd name="connsiteY12" fmla="*/ 265462 h 354996"/>
                <a:gd name="connsiteX13" fmla="*/ 38576 w 354996"/>
                <a:gd name="connsiteY13" fmla="*/ 89535 h 354996"/>
                <a:gd name="connsiteX14" fmla="*/ 89535 w 354996"/>
                <a:gd name="connsiteY14" fmla="*/ 38576 h 354996"/>
                <a:gd name="connsiteX15" fmla="*/ 265462 w 354996"/>
                <a:gd name="connsiteY15" fmla="*/ 38576 h 354996"/>
                <a:gd name="connsiteX16" fmla="*/ 316421 w 354996"/>
                <a:gd name="connsiteY16" fmla="*/ 89535 h 354996"/>
                <a:gd name="connsiteX17" fmla="*/ 316421 w 354996"/>
                <a:gd name="connsiteY17" fmla="*/ 265462 h 3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4996" h="354996">
                  <a:moveTo>
                    <a:pt x="265462" y="0"/>
                  </a:moveTo>
                  <a:lnTo>
                    <a:pt x="89535" y="0"/>
                  </a:lnTo>
                  <a:cubicBezTo>
                    <a:pt x="40196" y="0"/>
                    <a:pt x="0" y="40196"/>
                    <a:pt x="0" y="89535"/>
                  </a:cubicBezTo>
                  <a:lnTo>
                    <a:pt x="0" y="265462"/>
                  </a:lnTo>
                  <a:cubicBezTo>
                    <a:pt x="0" y="314896"/>
                    <a:pt x="40196" y="354997"/>
                    <a:pt x="89535" y="354997"/>
                  </a:cubicBezTo>
                  <a:lnTo>
                    <a:pt x="265462" y="354997"/>
                  </a:lnTo>
                  <a:cubicBezTo>
                    <a:pt x="314801" y="354997"/>
                    <a:pt x="354997" y="314801"/>
                    <a:pt x="354997" y="265462"/>
                  </a:cubicBezTo>
                  <a:lnTo>
                    <a:pt x="354997" y="89535"/>
                  </a:lnTo>
                  <a:cubicBezTo>
                    <a:pt x="354997" y="40196"/>
                    <a:pt x="314801" y="0"/>
                    <a:pt x="265462" y="0"/>
                  </a:cubicBezTo>
                  <a:close/>
                  <a:moveTo>
                    <a:pt x="316421" y="265462"/>
                  </a:moveTo>
                  <a:cubicBezTo>
                    <a:pt x="316421" y="293560"/>
                    <a:pt x="293561" y="316421"/>
                    <a:pt x="265462" y="316421"/>
                  </a:cubicBezTo>
                  <a:lnTo>
                    <a:pt x="89535" y="316421"/>
                  </a:lnTo>
                  <a:cubicBezTo>
                    <a:pt x="61436" y="316421"/>
                    <a:pt x="38576" y="293560"/>
                    <a:pt x="38576" y="265462"/>
                  </a:cubicBezTo>
                  <a:lnTo>
                    <a:pt x="38576" y="89535"/>
                  </a:lnTo>
                  <a:cubicBezTo>
                    <a:pt x="38576" y="61436"/>
                    <a:pt x="61436" y="38576"/>
                    <a:pt x="89535" y="38576"/>
                  </a:cubicBezTo>
                  <a:lnTo>
                    <a:pt x="265462" y="38576"/>
                  </a:lnTo>
                  <a:cubicBezTo>
                    <a:pt x="293561" y="38576"/>
                    <a:pt x="316421" y="61436"/>
                    <a:pt x="316421" y="89535"/>
                  </a:cubicBezTo>
                  <a:lnTo>
                    <a:pt x="316421" y="26546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11DCFC7-265A-A74C-9128-D2C19FEB1FE1}"/>
                </a:ext>
              </a:extLst>
            </p:cNvPr>
            <p:cNvSpPr/>
            <p:nvPr userDrawn="1"/>
          </p:nvSpPr>
          <p:spPr>
            <a:xfrm>
              <a:off x="5276508" y="2059857"/>
              <a:ext cx="374747" cy="374750"/>
            </a:xfrm>
            <a:custGeom>
              <a:avLst/>
              <a:gdLst>
                <a:gd name="connsiteX0" fmla="*/ 91440 w 182879"/>
                <a:gd name="connsiteY0" fmla="*/ 0 h 182880"/>
                <a:gd name="connsiteX1" fmla="*/ 0 w 182879"/>
                <a:gd name="connsiteY1" fmla="*/ 91440 h 182880"/>
                <a:gd name="connsiteX2" fmla="*/ 91440 w 182879"/>
                <a:gd name="connsiteY2" fmla="*/ 182880 h 182880"/>
                <a:gd name="connsiteX3" fmla="*/ 182880 w 182879"/>
                <a:gd name="connsiteY3" fmla="*/ 91440 h 182880"/>
                <a:gd name="connsiteX4" fmla="*/ 91440 w 182879"/>
                <a:gd name="connsiteY4" fmla="*/ 0 h 182880"/>
                <a:gd name="connsiteX5" fmla="*/ 91440 w 182879"/>
                <a:gd name="connsiteY5" fmla="*/ 144209 h 182880"/>
                <a:gd name="connsiteX6" fmla="*/ 38671 w 182879"/>
                <a:gd name="connsiteY6" fmla="*/ 91440 h 182880"/>
                <a:gd name="connsiteX7" fmla="*/ 91440 w 182879"/>
                <a:gd name="connsiteY7" fmla="*/ 38672 h 182880"/>
                <a:gd name="connsiteX8" fmla="*/ 144304 w 182879"/>
                <a:gd name="connsiteY8" fmla="*/ 91440 h 182880"/>
                <a:gd name="connsiteX9" fmla="*/ 91440 w 182879"/>
                <a:gd name="connsiteY9" fmla="*/ 144209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879" h="182880">
                  <a:moveTo>
                    <a:pt x="91440" y="0"/>
                  </a:moveTo>
                  <a:cubicBezTo>
                    <a:pt x="41053" y="0"/>
                    <a:pt x="0" y="41053"/>
                    <a:pt x="0" y="91440"/>
                  </a:cubicBezTo>
                  <a:cubicBezTo>
                    <a:pt x="0" y="141827"/>
                    <a:pt x="41053" y="182880"/>
                    <a:pt x="91440" y="182880"/>
                  </a:cubicBezTo>
                  <a:cubicBezTo>
                    <a:pt x="141827" y="182880"/>
                    <a:pt x="182880" y="141827"/>
                    <a:pt x="182880" y="91440"/>
                  </a:cubicBezTo>
                  <a:cubicBezTo>
                    <a:pt x="182880" y="41053"/>
                    <a:pt x="141922" y="0"/>
                    <a:pt x="91440" y="0"/>
                  </a:cubicBezTo>
                  <a:close/>
                  <a:moveTo>
                    <a:pt x="91440" y="144209"/>
                  </a:moveTo>
                  <a:cubicBezTo>
                    <a:pt x="62389" y="144209"/>
                    <a:pt x="38671" y="120491"/>
                    <a:pt x="38671" y="91440"/>
                  </a:cubicBezTo>
                  <a:cubicBezTo>
                    <a:pt x="38671" y="62389"/>
                    <a:pt x="62389" y="38672"/>
                    <a:pt x="91440" y="38672"/>
                  </a:cubicBezTo>
                  <a:cubicBezTo>
                    <a:pt x="120491" y="38672"/>
                    <a:pt x="144304" y="62389"/>
                    <a:pt x="144304" y="91440"/>
                  </a:cubicBezTo>
                  <a:cubicBezTo>
                    <a:pt x="144304" y="120491"/>
                    <a:pt x="120586" y="144209"/>
                    <a:pt x="91440" y="1442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F71412B-57D0-8C3F-863B-747D72482FB6}"/>
                </a:ext>
              </a:extLst>
            </p:cNvPr>
            <p:cNvSpPr/>
            <p:nvPr userDrawn="1"/>
          </p:nvSpPr>
          <p:spPr>
            <a:xfrm>
              <a:off x="7395013" y="1695646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32E9776-B6B4-0737-83B3-225F4D4AE1BF}"/>
                </a:ext>
              </a:extLst>
            </p:cNvPr>
            <p:cNvSpPr/>
            <p:nvPr userDrawn="1"/>
          </p:nvSpPr>
          <p:spPr>
            <a:xfrm>
              <a:off x="7581999" y="1991739"/>
              <a:ext cx="739350" cy="521135"/>
            </a:xfrm>
            <a:custGeom>
              <a:avLst/>
              <a:gdLst>
                <a:gd name="connsiteX0" fmla="*/ 353282 w 360807"/>
                <a:gd name="connsiteY0" fmla="*/ 39719 h 254317"/>
                <a:gd name="connsiteX1" fmla="*/ 321373 w 360807"/>
                <a:gd name="connsiteY1" fmla="*/ 7620 h 254317"/>
                <a:gd name="connsiteX2" fmla="*/ 180404 w 360807"/>
                <a:gd name="connsiteY2" fmla="*/ 0 h 254317"/>
                <a:gd name="connsiteX3" fmla="*/ 39433 w 360807"/>
                <a:gd name="connsiteY3" fmla="*/ 7620 h 254317"/>
                <a:gd name="connsiteX4" fmla="*/ 7525 w 360807"/>
                <a:gd name="connsiteY4" fmla="*/ 39719 h 254317"/>
                <a:gd name="connsiteX5" fmla="*/ 0 w 360807"/>
                <a:gd name="connsiteY5" fmla="*/ 127159 h 254317"/>
                <a:gd name="connsiteX6" fmla="*/ 7525 w 360807"/>
                <a:gd name="connsiteY6" fmla="*/ 214598 h 254317"/>
                <a:gd name="connsiteX7" fmla="*/ 39433 w 360807"/>
                <a:gd name="connsiteY7" fmla="*/ 246697 h 254317"/>
                <a:gd name="connsiteX8" fmla="*/ 180404 w 360807"/>
                <a:gd name="connsiteY8" fmla="*/ 254317 h 254317"/>
                <a:gd name="connsiteX9" fmla="*/ 321373 w 360807"/>
                <a:gd name="connsiteY9" fmla="*/ 246697 h 254317"/>
                <a:gd name="connsiteX10" fmla="*/ 353282 w 360807"/>
                <a:gd name="connsiteY10" fmla="*/ 214598 h 254317"/>
                <a:gd name="connsiteX11" fmla="*/ 360807 w 360807"/>
                <a:gd name="connsiteY11" fmla="*/ 127159 h 254317"/>
                <a:gd name="connsiteX12" fmla="*/ 353282 w 360807"/>
                <a:gd name="connsiteY12" fmla="*/ 39719 h 254317"/>
                <a:gd name="connsiteX13" fmla="*/ 143542 w 360807"/>
                <a:gd name="connsiteY13" fmla="*/ 180784 h 254317"/>
                <a:gd name="connsiteX14" fmla="*/ 143542 w 360807"/>
                <a:gd name="connsiteY14" fmla="*/ 73533 h 254317"/>
                <a:gd name="connsiteX15" fmla="*/ 237839 w 360807"/>
                <a:gd name="connsiteY15" fmla="*/ 127159 h 254317"/>
                <a:gd name="connsiteX16" fmla="*/ 143542 w 360807"/>
                <a:gd name="connsiteY16" fmla="*/ 180784 h 25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807" h="254317">
                  <a:moveTo>
                    <a:pt x="353282" y="39719"/>
                  </a:moveTo>
                  <a:cubicBezTo>
                    <a:pt x="349091" y="24098"/>
                    <a:pt x="336899" y="11811"/>
                    <a:pt x="321373" y="7620"/>
                  </a:cubicBezTo>
                  <a:cubicBezTo>
                    <a:pt x="293275" y="0"/>
                    <a:pt x="180404" y="0"/>
                    <a:pt x="180404" y="0"/>
                  </a:cubicBezTo>
                  <a:cubicBezTo>
                    <a:pt x="180404" y="0"/>
                    <a:pt x="67532" y="0"/>
                    <a:pt x="39433" y="7620"/>
                  </a:cubicBezTo>
                  <a:cubicBezTo>
                    <a:pt x="23908" y="11811"/>
                    <a:pt x="11716" y="24098"/>
                    <a:pt x="7525" y="39719"/>
                  </a:cubicBezTo>
                  <a:cubicBezTo>
                    <a:pt x="0" y="68008"/>
                    <a:pt x="0" y="127159"/>
                    <a:pt x="0" y="127159"/>
                  </a:cubicBezTo>
                  <a:cubicBezTo>
                    <a:pt x="0" y="127159"/>
                    <a:pt x="0" y="186214"/>
                    <a:pt x="7525" y="214598"/>
                  </a:cubicBezTo>
                  <a:cubicBezTo>
                    <a:pt x="11716" y="230219"/>
                    <a:pt x="23908" y="242506"/>
                    <a:pt x="39433" y="246697"/>
                  </a:cubicBezTo>
                  <a:cubicBezTo>
                    <a:pt x="67532" y="254317"/>
                    <a:pt x="180404" y="254317"/>
                    <a:pt x="180404" y="254317"/>
                  </a:cubicBezTo>
                  <a:cubicBezTo>
                    <a:pt x="180404" y="254317"/>
                    <a:pt x="293275" y="254317"/>
                    <a:pt x="321373" y="246697"/>
                  </a:cubicBezTo>
                  <a:cubicBezTo>
                    <a:pt x="336899" y="242506"/>
                    <a:pt x="349091" y="230219"/>
                    <a:pt x="353282" y="214598"/>
                  </a:cubicBezTo>
                  <a:cubicBezTo>
                    <a:pt x="360807" y="186309"/>
                    <a:pt x="360807" y="127159"/>
                    <a:pt x="360807" y="127159"/>
                  </a:cubicBezTo>
                  <a:cubicBezTo>
                    <a:pt x="360807" y="127159"/>
                    <a:pt x="360807" y="68104"/>
                    <a:pt x="353282" y="39719"/>
                  </a:cubicBezTo>
                  <a:close/>
                  <a:moveTo>
                    <a:pt x="143542" y="180784"/>
                  </a:moveTo>
                  <a:lnTo>
                    <a:pt x="143542" y="73533"/>
                  </a:lnTo>
                  <a:lnTo>
                    <a:pt x="237839" y="127159"/>
                  </a:lnTo>
                  <a:lnTo>
                    <a:pt x="143542" y="1807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6B36695-9D44-CF4A-14FC-6D97E6B5EEB6}"/>
                </a:ext>
              </a:extLst>
            </p:cNvPr>
            <p:cNvSpPr/>
            <p:nvPr userDrawn="1"/>
          </p:nvSpPr>
          <p:spPr>
            <a:xfrm>
              <a:off x="2419238" y="1689595"/>
              <a:ext cx="1113317" cy="1113317"/>
            </a:xfrm>
            <a:custGeom>
              <a:avLst/>
              <a:gdLst>
                <a:gd name="connsiteX0" fmla="*/ 0 w 543305"/>
                <a:gd name="connsiteY0" fmla="*/ 0 h 543305"/>
                <a:gd name="connsiteX1" fmla="*/ 543306 w 543305"/>
                <a:gd name="connsiteY1" fmla="*/ 0 h 543305"/>
                <a:gd name="connsiteX2" fmla="*/ 543306 w 543305"/>
                <a:gd name="connsiteY2" fmla="*/ 543306 h 543305"/>
                <a:gd name="connsiteX3" fmla="*/ 0 w 543305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46E7525-5FF1-8346-5B8E-E85830C2BFE2}"/>
                </a:ext>
              </a:extLst>
            </p:cNvPr>
            <p:cNvSpPr/>
            <p:nvPr userDrawn="1"/>
          </p:nvSpPr>
          <p:spPr>
            <a:xfrm>
              <a:off x="2628279" y="2125633"/>
              <a:ext cx="149117" cy="479562"/>
            </a:xfrm>
            <a:custGeom>
              <a:avLst/>
              <a:gdLst>
                <a:gd name="connsiteX0" fmla="*/ 0 w 72770"/>
                <a:gd name="connsiteY0" fmla="*/ 0 h 234029"/>
                <a:gd name="connsiteX1" fmla="*/ 72771 w 72770"/>
                <a:gd name="connsiteY1" fmla="*/ 0 h 234029"/>
                <a:gd name="connsiteX2" fmla="*/ 72771 w 72770"/>
                <a:gd name="connsiteY2" fmla="*/ 234029 h 234029"/>
                <a:gd name="connsiteX3" fmla="*/ 0 w 72770"/>
                <a:gd name="connsiteY3" fmla="*/ 234029 h 23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770" h="234029">
                  <a:moveTo>
                    <a:pt x="0" y="0"/>
                  </a:moveTo>
                  <a:lnTo>
                    <a:pt x="72771" y="0"/>
                  </a:lnTo>
                  <a:lnTo>
                    <a:pt x="72771" y="234029"/>
                  </a:lnTo>
                  <a:lnTo>
                    <a:pt x="0" y="23402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2643B9D-593C-28B6-33C7-94AC849E27E6}"/>
                </a:ext>
              </a:extLst>
            </p:cNvPr>
            <p:cNvSpPr/>
            <p:nvPr userDrawn="1"/>
          </p:nvSpPr>
          <p:spPr>
            <a:xfrm>
              <a:off x="2616371" y="1887316"/>
              <a:ext cx="172539" cy="172930"/>
            </a:xfrm>
            <a:custGeom>
              <a:avLst/>
              <a:gdLst>
                <a:gd name="connsiteX0" fmla="*/ 42100 w 84200"/>
                <a:gd name="connsiteY0" fmla="*/ 0 h 84391"/>
                <a:gd name="connsiteX1" fmla="*/ 0 w 84200"/>
                <a:gd name="connsiteY1" fmla="*/ 42196 h 84391"/>
                <a:gd name="connsiteX2" fmla="*/ 42100 w 84200"/>
                <a:gd name="connsiteY2" fmla="*/ 84392 h 84391"/>
                <a:gd name="connsiteX3" fmla="*/ 84201 w 84200"/>
                <a:gd name="connsiteY3" fmla="*/ 42196 h 84391"/>
                <a:gd name="connsiteX4" fmla="*/ 42100 w 84200"/>
                <a:gd name="connsiteY4" fmla="*/ 0 h 8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00" h="84391">
                  <a:moveTo>
                    <a:pt x="42100" y="0"/>
                  </a:moveTo>
                  <a:cubicBezTo>
                    <a:pt x="18764" y="0"/>
                    <a:pt x="0" y="18860"/>
                    <a:pt x="0" y="42196"/>
                  </a:cubicBezTo>
                  <a:cubicBezTo>
                    <a:pt x="0" y="65532"/>
                    <a:pt x="18859" y="84392"/>
                    <a:pt x="42100" y="84392"/>
                  </a:cubicBezTo>
                  <a:cubicBezTo>
                    <a:pt x="65342" y="84392"/>
                    <a:pt x="84201" y="65532"/>
                    <a:pt x="84201" y="42196"/>
                  </a:cubicBezTo>
                  <a:cubicBezTo>
                    <a:pt x="84201" y="18860"/>
                    <a:pt x="65342" y="0"/>
                    <a:pt x="42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DA44CA4D-A7B1-8C2B-5E9A-F02818DF16DD}"/>
                </a:ext>
              </a:extLst>
            </p:cNvPr>
            <p:cNvSpPr/>
            <p:nvPr userDrawn="1"/>
          </p:nvSpPr>
          <p:spPr>
            <a:xfrm>
              <a:off x="2870888" y="2113727"/>
              <a:ext cx="464728" cy="491467"/>
            </a:xfrm>
            <a:custGeom>
              <a:avLst/>
              <a:gdLst>
                <a:gd name="connsiteX0" fmla="*/ 139446 w 226790"/>
                <a:gd name="connsiteY0" fmla="*/ 0 h 239839"/>
                <a:gd name="connsiteX1" fmla="*/ 70675 w 226790"/>
                <a:gd name="connsiteY1" fmla="*/ 37814 h 239839"/>
                <a:gd name="connsiteX2" fmla="*/ 69723 w 226790"/>
                <a:gd name="connsiteY2" fmla="*/ 37814 h 239839"/>
                <a:gd name="connsiteX3" fmla="*/ 69723 w 226790"/>
                <a:gd name="connsiteY3" fmla="*/ 5810 h 239839"/>
                <a:gd name="connsiteX4" fmla="*/ 0 w 226790"/>
                <a:gd name="connsiteY4" fmla="*/ 5810 h 239839"/>
                <a:gd name="connsiteX5" fmla="*/ 0 w 226790"/>
                <a:gd name="connsiteY5" fmla="*/ 239839 h 239839"/>
                <a:gd name="connsiteX6" fmla="*/ 72676 w 226790"/>
                <a:gd name="connsiteY6" fmla="*/ 239839 h 239839"/>
                <a:gd name="connsiteX7" fmla="*/ 72676 w 226790"/>
                <a:gd name="connsiteY7" fmla="*/ 124111 h 239839"/>
                <a:gd name="connsiteX8" fmla="*/ 116300 w 226790"/>
                <a:gd name="connsiteY8" fmla="*/ 64008 h 239839"/>
                <a:gd name="connsiteX9" fmla="*/ 154115 w 226790"/>
                <a:gd name="connsiteY9" fmla="*/ 126016 h 239839"/>
                <a:gd name="connsiteX10" fmla="*/ 154115 w 226790"/>
                <a:gd name="connsiteY10" fmla="*/ 239839 h 239839"/>
                <a:gd name="connsiteX11" fmla="*/ 226790 w 226790"/>
                <a:gd name="connsiteY11" fmla="*/ 239839 h 239839"/>
                <a:gd name="connsiteX12" fmla="*/ 226790 w 226790"/>
                <a:gd name="connsiteY12" fmla="*/ 111538 h 239839"/>
                <a:gd name="connsiteX13" fmla="*/ 139541 w 226790"/>
                <a:gd name="connsiteY13" fmla="*/ 95 h 23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790" h="239839">
                  <a:moveTo>
                    <a:pt x="139446" y="0"/>
                  </a:moveTo>
                  <a:cubicBezTo>
                    <a:pt x="104108" y="0"/>
                    <a:pt x="80391" y="19431"/>
                    <a:pt x="70675" y="37814"/>
                  </a:cubicBezTo>
                  <a:lnTo>
                    <a:pt x="69723" y="37814"/>
                  </a:lnTo>
                  <a:lnTo>
                    <a:pt x="69723" y="5810"/>
                  </a:lnTo>
                  <a:lnTo>
                    <a:pt x="0" y="5810"/>
                  </a:lnTo>
                  <a:lnTo>
                    <a:pt x="0" y="239839"/>
                  </a:lnTo>
                  <a:lnTo>
                    <a:pt x="72676" y="239839"/>
                  </a:lnTo>
                  <a:lnTo>
                    <a:pt x="72676" y="124111"/>
                  </a:lnTo>
                  <a:cubicBezTo>
                    <a:pt x="72676" y="93631"/>
                    <a:pt x="78486" y="64008"/>
                    <a:pt x="116300" y="64008"/>
                  </a:cubicBezTo>
                  <a:cubicBezTo>
                    <a:pt x="154115" y="64008"/>
                    <a:pt x="154115" y="98869"/>
                    <a:pt x="154115" y="126016"/>
                  </a:cubicBezTo>
                  <a:lnTo>
                    <a:pt x="154115" y="239839"/>
                  </a:lnTo>
                  <a:lnTo>
                    <a:pt x="226790" y="239839"/>
                  </a:lnTo>
                  <a:lnTo>
                    <a:pt x="226790" y="111538"/>
                  </a:lnTo>
                  <a:cubicBezTo>
                    <a:pt x="226790" y="48577"/>
                    <a:pt x="213170" y="95"/>
                    <a:pt x="139541" y="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7235AA9-6C56-4AF4-5D5D-249E43C4A4B9}"/>
                </a:ext>
              </a:extLst>
            </p:cNvPr>
            <p:cNvSpPr/>
            <p:nvPr userDrawn="1"/>
          </p:nvSpPr>
          <p:spPr>
            <a:xfrm>
              <a:off x="8639104" y="1690572"/>
              <a:ext cx="1113317" cy="1113318"/>
            </a:xfrm>
            <a:custGeom>
              <a:avLst/>
              <a:gdLst>
                <a:gd name="connsiteX0" fmla="*/ 0 w 543305"/>
                <a:gd name="connsiteY0" fmla="*/ 0 h 543306"/>
                <a:gd name="connsiteX1" fmla="*/ 543306 w 543305"/>
                <a:gd name="connsiteY1" fmla="*/ 0 h 543306"/>
                <a:gd name="connsiteX2" fmla="*/ 543306 w 543305"/>
                <a:gd name="connsiteY2" fmla="*/ 543306 h 543306"/>
                <a:gd name="connsiteX3" fmla="*/ 0 w 543305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9F594E5-39F7-5122-ACD7-B01BB6AD6085}"/>
                </a:ext>
              </a:extLst>
            </p:cNvPr>
            <p:cNvSpPr/>
            <p:nvPr userDrawn="1"/>
          </p:nvSpPr>
          <p:spPr>
            <a:xfrm>
              <a:off x="9250999" y="2079375"/>
              <a:ext cx="335713" cy="335714"/>
            </a:xfrm>
            <a:custGeom>
              <a:avLst/>
              <a:gdLst>
                <a:gd name="connsiteX0" fmla="*/ 81915 w 163830"/>
                <a:gd name="connsiteY0" fmla="*/ 0 h 163830"/>
                <a:gd name="connsiteX1" fmla="*/ 0 w 163830"/>
                <a:gd name="connsiteY1" fmla="*/ 81915 h 163830"/>
                <a:gd name="connsiteX2" fmla="*/ 81915 w 163830"/>
                <a:gd name="connsiteY2" fmla="*/ 163830 h 163830"/>
                <a:gd name="connsiteX3" fmla="*/ 163830 w 163830"/>
                <a:gd name="connsiteY3" fmla="*/ 81915 h 163830"/>
                <a:gd name="connsiteX4" fmla="*/ 81915 w 163830"/>
                <a:gd name="connsiteY4" fmla="*/ 0 h 1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30">
                  <a:moveTo>
                    <a:pt x="81915" y="0"/>
                  </a:moveTo>
                  <a:cubicBezTo>
                    <a:pt x="36672" y="0"/>
                    <a:pt x="0" y="36671"/>
                    <a:pt x="0" y="81915"/>
                  </a:cubicBezTo>
                  <a:cubicBezTo>
                    <a:pt x="0" y="127159"/>
                    <a:pt x="36672" y="163830"/>
                    <a:pt x="81915" y="163830"/>
                  </a:cubicBezTo>
                  <a:cubicBezTo>
                    <a:pt x="127159" y="163830"/>
                    <a:pt x="163830" y="127159"/>
                    <a:pt x="163830" y="81915"/>
                  </a:cubicBezTo>
                  <a:cubicBezTo>
                    <a:pt x="163830" y="36671"/>
                    <a:pt x="127159" y="0"/>
                    <a:pt x="8191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221A9C7-C6AD-0626-16DC-BE6C6F74C19B}"/>
                </a:ext>
              </a:extLst>
            </p:cNvPr>
            <p:cNvSpPr/>
            <p:nvPr userDrawn="1"/>
          </p:nvSpPr>
          <p:spPr>
            <a:xfrm>
              <a:off x="8804617" y="2079375"/>
              <a:ext cx="335713" cy="335711"/>
            </a:xfrm>
            <a:custGeom>
              <a:avLst/>
              <a:gdLst>
                <a:gd name="connsiteX0" fmla="*/ 163830 w 163830"/>
                <a:gd name="connsiteY0" fmla="*/ 81915 h 163829"/>
                <a:gd name="connsiteX1" fmla="*/ 81915 w 163830"/>
                <a:gd name="connsiteY1" fmla="*/ 163830 h 163829"/>
                <a:gd name="connsiteX2" fmla="*/ 1 w 163830"/>
                <a:gd name="connsiteY2" fmla="*/ 81915 h 163829"/>
                <a:gd name="connsiteX3" fmla="*/ 81915 w 163830"/>
                <a:gd name="connsiteY3" fmla="*/ 0 h 163829"/>
                <a:gd name="connsiteX4" fmla="*/ 163830 w 163830"/>
                <a:gd name="connsiteY4" fmla="*/ 8191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29">
                  <a:moveTo>
                    <a:pt x="163830" y="81915"/>
                  </a:moveTo>
                  <a:cubicBezTo>
                    <a:pt x="163830" y="127155"/>
                    <a:pt x="127156" y="163830"/>
                    <a:pt x="81915" y="163830"/>
                  </a:cubicBezTo>
                  <a:cubicBezTo>
                    <a:pt x="36675" y="163830"/>
                    <a:pt x="1" y="127155"/>
                    <a:pt x="1" y="81915"/>
                  </a:cubicBezTo>
                  <a:cubicBezTo>
                    <a:pt x="1" y="36675"/>
                    <a:pt x="36675" y="0"/>
                    <a:pt x="81915" y="0"/>
                  </a:cubicBezTo>
                  <a:cubicBezTo>
                    <a:pt x="127156" y="0"/>
                    <a:pt x="163830" y="36675"/>
                    <a:pt x="163830" y="81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857E51B-0F39-5587-5067-B466AAFF56CC}"/>
                </a:ext>
              </a:extLst>
            </p:cNvPr>
            <p:cNvSpPr/>
            <p:nvPr userDrawn="1"/>
          </p:nvSpPr>
          <p:spPr>
            <a:xfrm>
              <a:off x="3663327" y="1692523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9A5378C-3AD2-2975-4FF4-12CED3D169DD}"/>
                </a:ext>
              </a:extLst>
            </p:cNvPr>
            <p:cNvSpPr/>
            <p:nvPr userDrawn="1"/>
          </p:nvSpPr>
          <p:spPr>
            <a:xfrm>
              <a:off x="3867878" y="1889462"/>
              <a:ext cx="703825" cy="719246"/>
            </a:xfrm>
            <a:custGeom>
              <a:avLst/>
              <a:gdLst>
                <a:gd name="connsiteX0" fmla="*/ 204406 w 343471"/>
                <a:gd name="connsiteY0" fmla="*/ 148685 h 350996"/>
                <a:gd name="connsiteX1" fmla="*/ 332327 w 343471"/>
                <a:gd name="connsiteY1" fmla="*/ 0 h 350996"/>
                <a:gd name="connsiteX2" fmla="*/ 302038 w 343471"/>
                <a:gd name="connsiteY2" fmla="*/ 0 h 350996"/>
                <a:gd name="connsiteX3" fmla="*/ 190976 w 343471"/>
                <a:gd name="connsiteY3" fmla="*/ 129064 h 350996"/>
                <a:gd name="connsiteX4" fmla="*/ 102298 w 343471"/>
                <a:gd name="connsiteY4" fmla="*/ 0 h 350996"/>
                <a:gd name="connsiteX5" fmla="*/ 0 w 343471"/>
                <a:gd name="connsiteY5" fmla="*/ 0 h 350996"/>
                <a:gd name="connsiteX6" fmla="*/ 134112 w 343471"/>
                <a:gd name="connsiteY6" fmla="*/ 195167 h 350996"/>
                <a:gd name="connsiteX7" fmla="*/ 0 w 343471"/>
                <a:gd name="connsiteY7" fmla="*/ 350996 h 350996"/>
                <a:gd name="connsiteX8" fmla="*/ 30289 w 343471"/>
                <a:gd name="connsiteY8" fmla="*/ 350996 h 350996"/>
                <a:gd name="connsiteX9" fmla="*/ 147542 w 343471"/>
                <a:gd name="connsiteY9" fmla="*/ 214694 h 350996"/>
                <a:gd name="connsiteX10" fmla="*/ 241173 w 343471"/>
                <a:gd name="connsiteY10" fmla="*/ 350996 h 350996"/>
                <a:gd name="connsiteX11" fmla="*/ 343471 w 343471"/>
                <a:gd name="connsiteY11" fmla="*/ 350996 h 350996"/>
                <a:gd name="connsiteX12" fmla="*/ 204406 w 343471"/>
                <a:gd name="connsiteY12" fmla="*/ 148590 h 350996"/>
                <a:gd name="connsiteX13" fmla="*/ 204406 w 343471"/>
                <a:gd name="connsiteY13" fmla="*/ 148590 h 350996"/>
                <a:gd name="connsiteX14" fmla="*/ 162973 w 343471"/>
                <a:gd name="connsiteY14" fmla="*/ 196882 h 350996"/>
                <a:gd name="connsiteX15" fmla="*/ 149352 w 343471"/>
                <a:gd name="connsiteY15" fmla="*/ 177451 h 350996"/>
                <a:gd name="connsiteX16" fmla="*/ 41243 w 343471"/>
                <a:gd name="connsiteY16" fmla="*/ 22765 h 350996"/>
                <a:gd name="connsiteX17" fmla="*/ 87821 w 343471"/>
                <a:gd name="connsiteY17" fmla="*/ 22765 h 350996"/>
                <a:gd name="connsiteX18" fmla="*/ 175070 w 343471"/>
                <a:gd name="connsiteY18" fmla="*/ 147542 h 350996"/>
                <a:gd name="connsiteX19" fmla="*/ 188690 w 343471"/>
                <a:gd name="connsiteY19" fmla="*/ 166973 h 350996"/>
                <a:gd name="connsiteX20" fmla="*/ 302133 w 343471"/>
                <a:gd name="connsiteY20" fmla="*/ 329184 h 350996"/>
                <a:gd name="connsiteX21" fmla="*/ 255556 w 343471"/>
                <a:gd name="connsiteY21" fmla="*/ 329184 h 350996"/>
                <a:gd name="connsiteX22" fmla="*/ 162973 w 343471"/>
                <a:gd name="connsiteY22" fmla="*/ 196787 h 350996"/>
                <a:gd name="connsiteX23" fmla="*/ 162973 w 343471"/>
                <a:gd name="connsiteY23" fmla="*/ 196787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3471" h="350996">
                  <a:moveTo>
                    <a:pt x="204406" y="148685"/>
                  </a:moveTo>
                  <a:lnTo>
                    <a:pt x="332327" y="0"/>
                  </a:lnTo>
                  <a:lnTo>
                    <a:pt x="302038" y="0"/>
                  </a:lnTo>
                  <a:lnTo>
                    <a:pt x="190976" y="129064"/>
                  </a:lnTo>
                  <a:lnTo>
                    <a:pt x="102298" y="0"/>
                  </a:lnTo>
                  <a:lnTo>
                    <a:pt x="0" y="0"/>
                  </a:lnTo>
                  <a:lnTo>
                    <a:pt x="134112" y="195167"/>
                  </a:lnTo>
                  <a:lnTo>
                    <a:pt x="0" y="350996"/>
                  </a:lnTo>
                  <a:lnTo>
                    <a:pt x="30289" y="350996"/>
                  </a:lnTo>
                  <a:lnTo>
                    <a:pt x="147542" y="214694"/>
                  </a:lnTo>
                  <a:lnTo>
                    <a:pt x="241173" y="350996"/>
                  </a:lnTo>
                  <a:lnTo>
                    <a:pt x="343471" y="350996"/>
                  </a:lnTo>
                  <a:lnTo>
                    <a:pt x="204406" y="148590"/>
                  </a:lnTo>
                  <a:lnTo>
                    <a:pt x="204406" y="148590"/>
                  </a:lnTo>
                  <a:close/>
                  <a:moveTo>
                    <a:pt x="162973" y="196882"/>
                  </a:moveTo>
                  <a:lnTo>
                    <a:pt x="149352" y="177451"/>
                  </a:lnTo>
                  <a:lnTo>
                    <a:pt x="41243" y="22765"/>
                  </a:lnTo>
                  <a:lnTo>
                    <a:pt x="87821" y="22765"/>
                  </a:lnTo>
                  <a:lnTo>
                    <a:pt x="175070" y="147542"/>
                  </a:lnTo>
                  <a:lnTo>
                    <a:pt x="188690" y="166973"/>
                  </a:lnTo>
                  <a:lnTo>
                    <a:pt x="302133" y="329184"/>
                  </a:lnTo>
                  <a:lnTo>
                    <a:pt x="255556" y="329184"/>
                  </a:lnTo>
                  <a:lnTo>
                    <a:pt x="162973" y="196787"/>
                  </a:lnTo>
                  <a:lnTo>
                    <a:pt x="162973" y="19678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</p:grpSp>
      <p:sp>
        <p:nvSpPr>
          <p:cNvPr id="2" name="Title 7">
            <a:extLst>
              <a:ext uri="{FF2B5EF4-FFF2-40B4-BE49-F238E27FC236}">
                <a16:creationId xmlns:a16="http://schemas.microsoft.com/office/drawing/2014/main" id="{DAE593DB-8ADA-2B81-0837-94D520E63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Keep up with ORNL’s latest scientific discoveries, economic impacts, and solutions for energy and national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28733716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85">
            <a:extLst>
              <a:ext uri="{FF2B5EF4-FFF2-40B4-BE49-F238E27FC236}">
                <a16:creationId xmlns:a16="http://schemas.microsoft.com/office/drawing/2014/main" id="{89B1F087-DF83-09A8-95A1-156B3E903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CAC3282-DC62-4A2A-767F-48373E113E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9255" y="2735048"/>
            <a:ext cx="5773490" cy="138790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CBD199E-AAB8-C86C-7065-B0DAAC996DDA}"/>
              </a:ext>
            </a:extLst>
          </p:cNvPr>
          <p:cNvGrpSpPr/>
          <p:nvPr userDrawn="1"/>
        </p:nvGrpSpPr>
        <p:grpSpPr>
          <a:xfrm>
            <a:off x="4217981" y="6109219"/>
            <a:ext cx="4556510" cy="438912"/>
            <a:chOff x="859536" y="6108192"/>
            <a:chExt cx="4556510" cy="4389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197F97-DD05-46DC-A43C-9A85A489A4DD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8" name="Picture 7" descr="Text&#10;&#10;AI-generated content may be incorrect.">
              <a:extLst>
                <a:ext uri="{FF2B5EF4-FFF2-40B4-BE49-F238E27FC236}">
                  <a16:creationId xmlns:a16="http://schemas.microsoft.com/office/drawing/2014/main" id="{CCDFDBFA-B5E9-EA5B-FE47-B868EED9A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41547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9496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653735"/>
            <a:ext cx="11430000" cy="4047778"/>
          </a:xfrm>
        </p:spPr>
        <p:txBody>
          <a:bodyPr/>
          <a:lstStyle>
            <a:lvl1pPr marL="288925" indent="-288925">
              <a:spcBef>
                <a:spcPts val="18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7388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>
                <a:latin typeface="+mn-lt"/>
                <a:cs typeface="Arial" panose="020B0604020202020204" pitchFamily="34" charset="0"/>
              </a:defRPr>
            </a:lvl2pPr>
            <a:lvl3pPr marL="1031875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558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100" b="1" i="0" smtClean="0">
                <a:solidFill>
                  <a:schemeClr val="bg2"/>
                </a:solidFill>
                <a:latin typeface="+mn-lt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100" b="1" i="0" dirty="0">
              <a:solidFill>
                <a:schemeClr val="bg2"/>
              </a:solidFill>
              <a:latin typeface="+mn-lt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1" name="Rectangle 256">
            <a:extLst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7599464" y="6576851"/>
            <a:ext cx="3860800" cy="152400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2"/>
                </a:solidFill>
                <a:latin typeface="Aptos Light" panose="020B0004020202020204" pitchFamily="34" charset="0"/>
                <a:ea typeface="Aptos" panose="02000000000000000000" pitchFamily="2" charset="0"/>
                <a:cs typeface="Arial" pitchFamily="34" charset="0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E8AFC4-0CE6-E93B-9E8C-DB368BD3C3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1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939" r:id="rId2"/>
    <p:sldLayoutId id="2147483896" r:id="rId3"/>
    <p:sldLayoutId id="2147483927" r:id="rId4"/>
    <p:sldLayoutId id="2147483941" r:id="rId5"/>
    <p:sldLayoutId id="2147483832" r:id="rId6"/>
    <p:sldLayoutId id="2147483894" r:id="rId7"/>
    <p:sldLayoutId id="2147483829" r:id="rId8"/>
    <p:sldLayoutId id="2147483897" r:id="rId9"/>
    <p:sldLayoutId id="2147483833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834" r:id="rId16"/>
    <p:sldLayoutId id="2147483940" r:id="rId17"/>
    <p:sldLayoutId id="2147483835" r:id="rId18"/>
    <p:sldLayoutId id="2147483928" r:id="rId19"/>
    <p:sldLayoutId id="2147483906" r:id="rId20"/>
    <p:sldLayoutId id="2147483905" r:id="rId21"/>
    <p:sldLayoutId id="2147483937" r:id="rId22"/>
    <p:sldLayoutId id="2147483947" r:id="rId23"/>
    <p:sldLayoutId id="2147483948" r:id="rId24"/>
    <p:sldLayoutId id="2147483951" r:id="rId25"/>
    <p:sldLayoutId id="2147483949" r:id="rId26"/>
    <p:sldLayoutId id="2147483959" r:id="rId27"/>
    <p:sldLayoutId id="2147483861" r:id="rId28"/>
    <p:sldLayoutId id="2147483958" r:id="rId29"/>
    <p:sldLayoutId id="2147483849" r:id="rId30"/>
    <p:sldLayoutId id="2147483960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Aptos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None/>
        <a:defRPr sz="22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tidproject/mantid" TargetMode="External"/><Relationship Id="rId2" Type="http://schemas.openxmlformats.org/officeDocument/2006/relationships/hyperlink" Target="https://github.com/neutrons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8B1F-BFB1-CC50-2580-E2ADE95FF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8702" y="1816987"/>
            <a:ext cx="4517136" cy="997196"/>
          </a:xfrm>
        </p:spPr>
        <p:txBody>
          <a:bodyPr/>
          <a:lstStyle/>
          <a:p>
            <a:r>
              <a:rPr lang="en-US" dirty="0"/>
              <a:t>Version control: an insanely </a:t>
            </a:r>
            <a:r>
              <a:rPr lang="en-US"/>
              <a:t>useful tool </a:t>
            </a:r>
            <a:r>
              <a:rPr lang="en-US" dirty="0"/>
              <a:t>for creation and collaboration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AA3E-CA79-A928-3E5C-72DD8F594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AB052-C5ED-4604-BB32-C7CFB3654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69892-B8FD-9314-2137-FD44D1A12A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Malcolm Guthrie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AE62E-70C2-2BB8-D0AC-19F2732450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199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C247-7D35-5DA1-08F9-2901BE1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A03A3-E802-2B42-A77F-2C50E6530ED6}"/>
              </a:ext>
            </a:extLst>
          </p:cNvPr>
          <p:cNvSpPr txBox="1"/>
          <p:nvPr/>
        </p:nvSpPr>
        <p:spPr>
          <a:xfrm>
            <a:off x="2888975" y="1577009"/>
            <a:ext cx="6785113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/>
              <a:t>1. git </a:t>
            </a:r>
            <a:r>
              <a:rPr lang="en-US" dirty="0"/>
              <a:t>noun </a:t>
            </a:r>
          </a:p>
          <a:p>
            <a:r>
              <a:rPr lang="en-US" dirty="0"/>
              <a:t>(British slang)</a:t>
            </a:r>
          </a:p>
          <a:p>
            <a:r>
              <a:rPr lang="en-US" sz="2400" b="1" dirty="0"/>
              <a:t>a foolish or worthless person</a:t>
            </a:r>
          </a:p>
          <a:p>
            <a:endParaRPr lang="en-US" sz="2400" dirty="0"/>
          </a:p>
          <a:p>
            <a:r>
              <a:rPr lang="en-US" dirty="0"/>
              <a:t>Examples</a:t>
            </a:r>
            <a:br>
              <a:rPr lang="en-GB" sz="2400" dirty="0"/>
            </a:br>
            <a:r>
              <a:rPr lang="en-GB" sz="2400" dirty="0"/>
              <a:t>| </a:t>
            </a:r>
            <a:r>
              <a:rPr lang="en-GB" dirty="0"/>
              <a:t>Give it a break, you old </a:t>
            </a:r>
            <a:r>
              <a:rPr lang="en-GB" b="1" i="1" dirty="0"/>
              <a:t>git.</a:t>
            </a:r>
            <a:r>
              <a:rPr lang="en-GB" dirty="0"/>
              <a:t> </a:t>
            </a:r>
          </a:p>
          <a:p>
            <a:r>
              <a:rPr lang="en-GB" sz="2400" dirty="0"/>
              <a:t>|</a:t>
            </a:r>
            <a:r>
              <a:rPr lang="en-GB" dirty="0"/>
              <a:t> oh, don't be such a silly </a:t>
            </a:r>
            <a:r>
              <a:rPr lang="en-GB" b="1" i="1" dirty="0"/>
              <a:t>git.</a:t>
            </a:r>
            <a:endParaRPr lang="en-GB" dirty="0"/>
          </a:p>
          <a:p>
            <a:endParaRPr lang="en-GB" sz="2400" dirty="0"/>
          </a:p>
          <a:p>
            <a:r>
              <a:rPr lang="en-GB" sz="2400" b="1" dirty="0"/>
              <a:t>2. </a:t>
            </a:r>
            <a:r>
              <a:rPr lang="en-GB" sz="2400" b="1" i="1" dirty="0"/>
              <a:t>git</a:t>
            </a:r>
            <a:r>
              <a:rPr lang="en-GB" sz="2400" b="1" dirty="0"/>
              <a:t> </a:t>
            </a:r>
            <a:r>
              <a:rPr lang="en-GB" dirty="0"/>
              <a:t>noun</a:t>
            </a:r>
          </a:p>
          <a:p>
            <a:r>
              <a:rPr lang="en-GB" sz="2400" b="1" dirty="0"/>
              <a:t>a free, open-source version control system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06966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A003-2B3F-6471-7287-E22CEF77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4E9D-ACDA-D139-5CB6-C417208C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and 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8E5BA-4D41-949E-592F-1536B1C4AA13}"/>
              </a:ext>
            </a:extLst>
          </p:cNvPr>
          <p:cNvSpPr txBox="1"/>
          <p:nvPr/>
        </p:nvSpPr>
        <p:spPr>
          <a:xfrm>
            <a:off x="1060174" y="1298714"/>
            <a:ext cx="101246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Version control allows the creation and management of snapshots of a project’s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enables editing of content without risk of losing anything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Retains history of edits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Enables vital control over code edits in everything from personal projects to collaborative repos  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9937D2-9CBF-F222-9B5B-C408AC70227A}"/>
              </a:ext>
            </a:extLst>
          </p:cNvPr>
          <p:cNvSpPr/>
          <p:nvPr/>
        </p:nvSpPr>
        <p:spPr>
          <a:xfrm rot="518094">
            <a:off x="1325218" y="4068418"/>
            <a:ext cx="1828800" cy="596348"/>
          </a:xfrm>
          <a:prstGeom prst="roundRect">
            <a:avLst>
              <a:gd name="adj" fmla="val 988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Writing a paper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74A0D7-DD20-F04C-F4C5-99F461EB4FD1}"/>
              </a:ext>
            </a:extLst>
          </p:cNvPr>
          <p:cNvSpPr/>
          <p:nvPr/>
        </p:nvSpPr>
        <p:spPr>
          <a:xfrm rot="20951027">
            <a:off x="4154556" y="4883425"/>
            <a:ext cx="3140765" cy="669235"/>
          </a:xfrm>
          <a:prstGeom prst="roundRect">
            <a:avLst>
              <a:gd name="adj" fmla="val 988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Organizing a small single user repo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D98216-99A5-7746-7C32-D22366F55933}"/>
              </a:ext>
            </a:extLst>
          </p:cNvPr>
          <p:cNvSpPr/>
          <p:nvPr/>
        </p:nvSpPr>
        <p:spPr>
          <a:xfrm rot="322470">
            <a:off x="8083825" y="4465982"/>
            <a:ext cx="3140765" cy="1179444"/>
          </a:xfrm>
          <a:prstGeom prst="roundRect">
            <a:avLst>
              <a:gd name="adj" fmla="val 988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Supporting a large collaborative open-source project with 100s of contributors</a:t>
            </a:r>
          </a:p>
        </p:txBody>
      </p:sp>
    </p:spTree>
    <p:extLst>
      <p:ext uri="{BB962C8B-B14F-4D97-AF65-F5344CB8AC3E}">
        <p14:creationId xmlns:p14="http://schemas.microsoft.com/office/powerpoint/2010/main" val="363237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E004-F805-518D-F9E4-45483F6D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2BE8-EBEE-1128-F3F1-A153B57D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helpful git terminology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94660A-AAFF-F0FC-2A7D-3B8C0083C5EE}"/>
              </a:ext>
            </a:extLst>
          </p:cNvPr>
          <p:cNvSpPr/>
          <p:nvPr/>
        </p:nvSpPr>
        <p:spPr>
          <a:xfrm>
            <a:off x="231914" y="1232452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Repository (universally called a “repo”)</a:t>
            </a:r>
          </a:p>
          <a:p>
            <a:r>
              <a:rPr lang="en-US" dirty="0">
                <a:solidFill>
                  <a:schemeClr val="tx1"/>
                </a:solidFill>
              </a:rPr>
              <a:t>A collection of folders and/or files containing data. Can be anything (source code, text files, images, mp3s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AC5B2F-40E7-932E-15EF-15946976B308}"/>
              </a:ext>
            </a:extLst>
          </p:cNvPr>
          <p:cNvSpPr/>
          <p:nvPr/>
        </p:nvSpPr>
        <p:spPr>
          <a:xfrm>
            <a:off x="231914" y="2335695"/>
            <a:ext cx="11529391" cy="1066800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Commit</a:t>
            </a:r>
          </a:p>
          <a:p>
            <a:r>
              <a:rPr lang="en-US" dirty="0">
                <a:solidFill>
                  <a:schemeClr val="tx1"/>
                </a:solidFill>
              </a:rPr>
              <a:t>A specific snapshot of the state of the repo at an instant in time. Each commit has a unique identifier a 40-character hexadecimal string.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1C5B26-A92F-BF55-698D-82A387FE37C5}"/>
              </a:ext>
            </a:extLst>
          </p:cNvPr>
          <p:cNvSpPr/>
          <p:nvPr/>
        </p:nvSpPr>
        <p:spPr>
          <a:xfrm>
            <a:off x="231914" y="3578086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Branch</a:t>
            </a:r>
          </a:p>
          <a:p>
            <a:r>
              <a:rPr lang="en-US" dirty="0">
                <a:solidFill>
                  <a:schemeClr val="tx1"/>
                </a:solidFill>
              </a:rPr>
              <a:t>A copy of a repo, where changes can be made without altering other branches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3DBB66-4F2F-1E67-5A6E-B48EC69506B9}"/>
              </a:ext>
            </a:extLst>
          </p:cNvPr>
          <p:cNvSpPr/>
          <p:nvPr/>
        </p:nvSpPr>
        <p:spPr>
          <a:xfrm>
            <a:off x="231914" y="4681329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Master or Main</a:t>
            </a:r>
          </a:p>
          <a:p>
            <a:r>
              <a:rPr lang="en-US" dirty="0">
                <a:solidFill>
                  <a:schemeClr val="tx1"/>
                </a:solidFill>
              </a:rPr>
              <a:t>The default name for the first branch in a repo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F4B5A3-B971-3E74-EA0E-D611AF040E4E}"/>
              </a:ext>
            </a:extLst>
          </p:cNvPr>
          <p:cNvSpPr/>
          <p:nvPr/>
        </p:nvSpPr>
        <p:spPr>
          <a:xfrm>
            <a:off x="231914" y="5784574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Merge</a:t>
            </a:r>
          </a:p>
          <a:p>
            <a:r>
              <a:rPr lang="en-US" dirty="0">
                <a:solidFill>
                  <a:schemeClr val="tx1"/>
                </a:solidFill>
              </a:rPr>
              <a:t>The process of combining two or more commits or branches </a:t>
            </a:r>
          </a:p>
        </p:txBody>
      </p:sp>
    </p:spTree>
    <p:extLst>
      <p:ext uri="{BB962C8B-B14F-4D97-AF65-F5344CB8AC3E}">
        <p14:creationId xmlns:p14="http://schemas.microsoft.com/office/powerpoint/2010/main" val="321788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ADA2-F3ED-8C7C-614E-54EF6431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git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62F86-9ABE-74A0-7FC9-BB278EE14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938" y="1096756"/>
            <a:ext cx="11492432" cy="705540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Create a repo 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69A98E-5C71-1938-BD56-64C8E91EEF2D}"/>
              </a:ext>
            </a:extLst>
          </p:cNvPr>
          <p:cNvSpPr/>
          <p:nvPr/>
        </p:nvSpPr>
        <p:spPr>
          <a:xfrm>
            <a:off x="274938" y="1431234"/>
            <a:ext cx="11158332" cy="344556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1C4915-CDE2-A182-2A02-D7642C1D3BB5}"/>
              </a:ext>
            </a:extLst>
          </p:cNvPr>
          <p:cNvSpPr txBox="1">
            <a:spLocks/>
          </p:cNvSpPr>
          <p:nvPr/>
        </p:nvSpPr>
        <p:spPr>
          <a:xfrm>
            <a:off x="274938" y="2017783"/>
            <a:ext cx="11492432" cy="705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2.  Add some content to the repo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27EB43-8593-E9A5-F9A8-A8B394CDD440}"/>
              </a:ext>
            </a:extLst>
          </p:cNvPr>
          <p:cNvSpPr txBox="1">
            <a:spLocks/>
          </p:cNvSpPr>
          <p:nvPr/>
        </p:nvSpPr>
        <p:spPr>
          <a:xfrm>
            <a:off x="274938" y="2521364"/>
            <a:ext cx="11492432" cy="705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3.  When your reach a good stopping point. You first stage and then commit your work with a helpful message. your work is now safe!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A48265-F330-AF1E-C612-A4233FB280BD}"/>
              </a:ext>
            </a:extLst>
          </p:cNvPr>
          <p:cNvSpPr/>
          <p:nvPr/>
        </p:nvSpPr>
        <p:spPr>
          <a:xfrm>
            <a:off x="208677" y="3120884"/>
            <a:ext cx="11178209" cy="722245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add .</a:t>
            </a:r>
          </a:p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commit –m “my first draft”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A07B4A-B1FD-4557-0380-8D64B6407CE1}"/>
              </a:ext>
            </a:extLst>
          </p:cNvPr>
          <p:cNvSpPr txBox="1">
            <a:spLocks/>
          </p:cNvSpPr>
          <p:nvPr/>
        </p:nvSpPr>
        <p:spPr>
          <a:xfrm>
            <a:off x="274938" y="4098373"/>
            <a:ext cx="11492432" cy="705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4.  You want to experiment with a new approach (say adding a new feature to code) so you create a new branch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3D1D0D-8AC6-B746-2DB1-1FCA4B513C1B}"/>
              </a:ext>
            </a:extLst>
          </p:cNvPr>
          <p:cNvSpPr/>
          <p:nvPr/>
        </p:nvSpPr>
        <p:spPr>
          <a:xfrm>
            <a:off x="274938" y="4432851"/>
            <a:ext cx="11217967" cy="344556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switch –c 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newBranch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B975A4-3614-F406-DF59-795A9444BF68}"/>
              </a:ext>
            </a:extLst>
          </p:cNvPr>
          <p:cNvSpPr txBox="1">
            <a:spLocks/>
          </p:cNvSpPr>
          <p:nvPr/>
        </p:nvSpPr>
        <p:spPr>
          <a:xfrm>
            <a:off x="274938" y="5112165"/>
            <a:ext cx="11492432" cy="705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5.  You get the new feature working nicely, you commit it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36789C-9C56-0842-D385-3228395978A6}"/>
              </a:ext>
            </a:extLst>
          </p:cNvPr>
          <p:cNvSpPr/>
          <p:nvPr/>
        </p:nvSpPr>
        <p:spPr>
          <a:xfrm>
            <a:off x="274938" y="5459893"/>
            <a:ext cx="11178209" cy="722245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add .</a:t>
            </a:r>
          </a:p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commit –m “my new feature works!”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2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19FB-0236-DC11-31F9-176DB81E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63AD-DEBF-2BE0-8DCC-0B3C9BE1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git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05518-2972-12D3-CBEA-8030D9C0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938" y="1096756"/>
            <a:ext cx="11492432" cy="705540"/>
          </a:xfrm>
        </p:spPr>
        <p:txBody>
          <a:bodyPr/>
          <a:lstStyle/>
          <a:p>
            <a:r>
              <a:rPr lang="en-US" dirty="0"/>
              <a:t>6.  Now your new feature is working, you can merge it into the main branch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192B2A-E0C7-C728-2AD9-6F2042FF9CE2}"/>
              </a:ext>
            </a:extLst>
          </p:cNvPr>
          <p:cNvSpPr/>
          <p:nvPr/>
        </p:nvSpPr>
        <p:spPr>
          <a:xfrm>
            <a:off x="274938" y="1431233"/>
            <a:ext cx="11158332" cy="808383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switch main</a:t>
            </a:r>
          </a:p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merge 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newBranch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FFE4E9-E4B5-E01D-E018-14CB7ABE2BAF}"/>
              </a:ext>
            </a:extLst>
          </p:cNvPr>
          <p:cNvSpPr txBox="1">
            <a:spLocks/>
          </p:cNvSpPr>
          <p:nvPr/>
        </p:nvSpPr>
        <p:spPr>
          <a:xfrm>
            <a:off x="268312" y="2494860"/>
            <a:ext cx="11492432" cy="705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7.  You clean up by deleting the feature branch, which isn’t needed any more.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BCF12A-F98D-F219-A7BB-1EEAA713CD66}"/>
              </a:ext>
            </a:extLst>
          </p:cNvPr>
          <p:cNvSpPr/>
          <p:nvPr/>
        </p:nvSpPr>
        <p:spPr>
          <a:xfrm>
            <a:off x="268312" y="2829337"/>
            <a:ext cx="11158332" cy="404193"/>
          </a:xfrm>
          <a:prstGeom prst="roundRect">
            <a:avLst/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branch –d 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newBranch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24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D3285-4CED-CE3A-C9E9-749620BC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345DB-4068-3C7F-F067-F07D290E582C}"/>
              </a:ext>
            </a:extLst>
          </p:cNvPr>
          <p:cNvSpPr txBox="1"/>
          <p:nvPr/>
        </p:nvSpPr>
        <p:spPr>
          <a:xfrm>
            <a:off x="1033670" y="1908314"/>
            <a:ext cx="101246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github</a:t>
            </a:r>
            <a:r>
              <a:rPr lang="en-US" sz="2400" dirty="0"/>
              <a:t> is a cloud platform that hosts git repositories (there are others: </a:t>
            </a:r>
            <a:r>
              <a:rPr lang="en-US" sz="2400" b="1" dirty="0" err="1"/>
              <a:t>gitlab</a:t>
            </a:r>
            <a:r>
              <a:rPr lang="en-US" sz="2400" dirty="0"/>
              <a:t>, </a:t>
            </a:r>
            <a:r>
              <a:rPr lang="en-US" sz="2400" b="1" dirty="0"/>
              <a:t>bitbucket</a:t>
            </a:r>
            <a:r>
              <a:rPr lang="en-US" sz="2400" dirty="0"/>
              <a:t>, </a:t>
            </a:r>
            <a:r>
              <a:rPr lang="en-US" sz="2400" b="1" dirty="0"/>
              <a:t>SourceForge</a:t>
            </a:r>
            <a:r>
              <a:rPr lang="en-US" sz="2400" dirty="0"/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Owned by Microsoft, extremely popular, many features for code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Neutron Sciences has many repositories </a:t>
            </a:r>
            <a:r>
              <a:rPr lang="en-US" sz="2400" dirty="0">
                <a:hlinkClick r:id="rId2"/>
              </a:rPr>
              <a:t>https://github.com/neutrons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Mantid is on </a:t>
            </a:r>
            <a:r>
              <a:rPr lang="en-US" sz="2400" dirty="0" err="1"/>
              <a:t>github</a:t>
            </a:r>
            <a:r>
              <a:rPr lang="en-US" sz="2400" dirty="0"/>
              <a:t> too </a:t>
            </a:r>
            <a:r>
              <a:rPr lang="en-US" sz="2400" dirty="0">
                <a:hlinkClick r:id="rId3"/>
              </a:rPr>
              <a:t>https://github.com/mantidproject/mantid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837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4AB00-370F-4008-16FC-522EF122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2" y="508317"/>
            <a:ext cx="5726899" cy="619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3360717" y="1021278"/>
            <a:ext cx="1175658" cy="295466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725693" y="1816925"/>
            <a:ext cx="148309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Title of repo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2208791" y="1169011"/>
            <a:ext cx="1151926" cy="818730"/>
          </a:xfrm>
          <a:prstGeom prst="bentConnector3">
            <a:avLst/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74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7576456" y="1401289"/>
            <a:ext cx="1808831" cy="973776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9385287" y="635196"/>
            <a:ext cx="2040943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Short description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of project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 flipH="1">
            <a:off x="9385287" y="930662"/>
            <a:ext cx="2040943" cy="957515"/>
          </a:xfrm>
          <a:prstGeom prst="bentConnector3">
            <a:avLst>
              <a:gd name="adj1" fmla="val -11201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985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3387915" y="1445341"/>
            <a:ext cx="574486" cy="241465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585416" y="1913389"/>
            <a:ext cx="97494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Branch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 flipV="1">
            <a:off x="1560363" y="1566074"/>
            <a:ext cx="2402038" cy="518131"/>
          </a:xfrm>
          <a:prstGeom prst="bentConnector3">
            <a:avLst>
              <a:gd name="adj1" fmla="val 109517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388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3467595" y="5498275"/>
            <a:ext cx="4001984" cy="997528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381308" y="2078182"/>
            <a:ext cx="2765501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readme contains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more detailed 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information on project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146809" y="2498297"/>
            <a:ext cx="320786" cy="349874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67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3455719" y="2018805"/>
            <a:ext cx="1175658" cy="3408218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658960" y="2018805"/>
            <a:ext cx="2081019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Contents of repo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(folders and files)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739979" y="2314271"/>
            <a:ext cx="715740" cy="1408643"/>
          </a:xfrm>
          <a:prstGeom prst="bentConnector3">
            <a:avLst/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98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4678876" y="2018805"/>
            <a:ext cx="2173185" cy="3408218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9292321" y="2660073"/>
            <a:ext cx="2444900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most recent commit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messages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 flipH="1">
            <a:off x="6852061" y="2955539"/>
            <a:ext cx="4885160" cy="767375"/>
          </a:xfrm>
          <a:prstGeom prst="bentConnector3">
            <a:avLst>
              <a:gd name="adj1" fmla="val -4679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51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4" y="460033"/>
            <a:ext cx="6119574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>
            <a:off x="7528954" y="5569527"/>
            <a:ext cx="1763367" cy="534389"/>
          </a:xfrm>
          <a:prstGeom prst="roundRect">
            <a:avLst>
              <a:gd name="adj" fmla="val 7576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9244580" y="4536375"/>
            <a:ext cx="2698175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 err="1">
                <a:latin typeface="+mn-lt"/>
              </a:rPr>
              <a:t>github</a:t>
            </a:r>
            <a:r>
              <a:rPr lang="en-US" dirty="0">
                <a:latin typeface="+mn-lt"/>
              </a:rPr>
              <a:t> users who have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committed to repo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 flipH="1">
            <a:off x="9292321" y="4831841"/>
            <a:ext cx="2650434" cy="1004881"/>
          </a:xfrm>
          <a:prstGeom prst="bentConnector3">
            <a:avLst>
              <a:gd name="adj1" fmla="val -8625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157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F4C12-965D-19B4-41EE-B58CA96D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05012" y="460033"/>
            <a:ext cx="6040977" cy="59379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794C81-07AC-9EE1-3B0A-BA83F98E19D4}"/>
              </a:ext>
            </a:extLst>
          </p:cNvPr>
          <p:cNvSpPr/>
          <p:nvPr/>
        </p:nvSpPr>
        <p:spPr>
          <a:xfrm flipV="1">
            <a:off x="5346733" y="1448789"/>
            <a:ext cx="2182222" cy="1980210"/>
          </a:xfrm>
          <a:prstGeom prst="roundRect">
            <a:avLst>
              <a:gd name="adj" fmla="val 6787"/>
            </a:avLst>
          </a:prstGeom>
          <a:noFill/>
          <a:ln w="47625">
            <a:solidFill>
              <a:srgbClr val="FF000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87769-FAEC-31BB-7FF4-C22D9779AA87}"/>
              </a:ext>
            </a:extLst>
          </p:cNvPr>
          <p:cNvSpPr txBox="1"/>
          <p:nvPr/>
        </p:nvSpPr>
        <p:spPr>
          <a:xfrm>
            <a:off x="9570676" y="2838068"/>
            <a:ext cx="2366353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Clicking the green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“Code” button 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reveals ways to 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download the repo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C8C05E6-7E6A-8B44-1E95-14A08B8374EA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rot="10800000">
            <a:off x="7528956" y="2438895"/>
            <a:ext cx="2041721" cy="94393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58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E328-0708-00DB-E170-779D42B9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helpful </a:t>
            </a:r>
            <a:r>
              <a:rPr lang="en-US" dirty="0" err="1"/>
              <a:t>github</a:t>
            </a:r>
            <a:r>
              <a:rPr lang="en-US" dirty="0"/>
              <a:t> terminology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766BF9-5642-BCE0-F0F5-F7CD02B16CCA}"/>
              </a:ext>
            </a:extLst>
          </p:cNvPr>
          <p:cNvSpPr/>
          <p:nvPr/>
        </p:nvSpPr>
        <p:spPr>
          <a:xfrm>
            <a:off x="231914" y="1232452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Fork</a:t>
            </a:r>
          </a:p>
          <a:p>
            <a:r>
              <a:rPr lang="en-US" dirty="0">
                <a:solidFill>
                  <a:schemeClr val="tx1"/>
                </a:solidFill>
              </a:rPr>
              <a:t>Your own personal copy of someone else’s project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AF722B-E1B8-0297-32ED-D9C1AD63519B}"/>
              </a:ext>
            </a:extLst>
          </p:cNvPr>
          <p:cNvSpPr/>
          <p:nvPr/>
        </p:nvSpPr>
        <p:spPr>
          <a:xfrm>
            <a:off x="231914" y="2335695"/>
            <a:ext cx="11529391" cy="1066800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Pull Request</a:t>
            </a:r>
          </a:p>
          <a:p>
            <a:r>
              <a:rPr lang="en-US" dirty="0">
                <a:solidFill>
                  <a:schemeClr val="tx1"/>
                </a:solidFill>
              </a:rPr>
              <a:t>A formal request that your code be merged into the main branch of a </a:t>
            </a:r>
            <a:r>
              <a:rPr lang="en-US" dirty="0" err="1">
                <a:solidFill>
                  <a:schemeClr val="tx1"/>
                </a:solidFill>
              </a:rPr>
              <a:t>repositoty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0B6381-A566-6226-F51E-2988D0A8CFFC}"/>
              </a:ext>
            </a:extLst>
          </p:cNvPr>
          <p:cNvSpPr/>
          <p:nvPr/>
        </p:nvSpPr>
        <p:spPr>
          <a:xfrm>
            <a:off x="231914" y="3578086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Push</a:t>
            </a:r>
          </a:p>
          <a:p>
            <a:r>
              <a:rPr lang="en-US" dirty="0">
                <a:solidFill>
                  <a:schemeClr val="tx1"/>
                </a:solidFill>
              </a:rPr>
              <a:t>Uploading local code commits from your computer to </a:t>
            </a:r>
            <a:r>
              <a:rPr lang="en-US" dirty="0" err="1">
                <a:solidFill>
                  <a:schemeClr val="tx1"/>
                </a:solidFill>
              </a:rPr>
              <a:t>github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7E5356-52DE-21F2-85A3-64E82ECD1889}"/>
              </a:ext>
            </a:extLst>
          </p:cNvPr>
          <p:cNvSpPr/>
          <p:nvPr/>
        </p:nvSpPr>
        <p:spPr>
          <a:xfrm>
            <a:off x="231914" y="4681329"/>
            <a:ext cx="11529391" cy="927652"/>
          </a:xfrm>
          <a:prstGeom prst="roundRect">
            <a:avLst>
              <a:gd name="adj" fmla="val 10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</a:rPr>
              <a:t>Pull</a:t>
            </a:r>
          </a:p>
          <a:p>
            <a:r>
              <a:rPr lang="en-US" dirty="0">
                <a:solidFill>
                  <a:schemeClr val="tx1"/>
                </a:solidFill>
              </a:rPr>
              <a:t>Downloading the latest commits from </a:t>
            </a:r>
            <a:r>
              <a:rPr lang="en-US" dirty="0" err="1">
                <a:solidFill>
                  <a:schemeClr val="tx1"/>
                </a:solidFill>
              </a:rPr>
              <a:t>github</a:t>
            </a:r>
            <a:r>
              <a:rPr lang="en-US" dirty="0">
                <a:solidFill>
                  <a:schemeClr val="tx1"/>
                </a:solidFill>
              </a:rPr>
              <a:t> to your computer</a:t>
            </a:r>
          </a:p>
        </p:txBody>
      </p:sp>
    </p:spTree>
    <p:extLst>
      <p:ext uri="{BB962C8B-B14F-4D97-AF65-F5344CB8AC3E}">
        <p14:creationId xmlns:p14="http://schemas.microsoft.com/office/powerpoint/2010/main" val="957481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6DD5-52D9-999D-E8A7-740D4438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B183-AEF2-1646-D804-27D14EC8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helpful git commands/tips!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C9C508-53BA-9B41-9D09-7B49A335202A}"/>
              </a:ext>
            </a:extLst>
          </p:cNvPr>
          <p:cNvSpPr/>
          <p:nvPr/>
        </p:nvSpPr>
        <p:spPr>
          <a:xfrm>
            <a:off x="500226" y="1510747"/>
            <a:ext cx="11158332" cy="3935896"/>
          </a:xfrm>
          <a:prstGeom prst="roundRect">
            <a:avLst>
              <a:gd name="adj" fmla="val 1822"/>
            </a:avLst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status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branch malcolm_2026_update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Changes not staged for commit: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(use "git add/rm &lt;file&gt;..." to update what will be committed)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(use "git restore &lt;file&gt;..." to discard changes in working directory)</a:t>
            </a:r>
          </a:p>
          <a:p>
            <a: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deleted:    </a:t>
            </a:r>
            <a:r>
              <a:rPr lang="en-GB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NXS_git_github.pptx</a:t>
            </a:r>
            <a:endParaRPr lang="en-GB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Untracked files:</a:t>
            </a:r>
          </a:p>
          <a:p>
            <a: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(use "git add &lt;file&gt;..." to include in what will be committed)</a:t>
            </a:r>
          </a:p>
          <a:p>
            <a: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NXS_git_github_2026.pptx</a:t>
            </a:r>
            <a:br>
              <a:rPr lang="en-GB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 changes added to commit (use "git add" and/or "git commit -a")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60CF00-486D-3272-AA42-136206DBA938}"/>
              </a:ext>
            </a:extLst>
          </p:cNvPr>
          <p:cNvSpPr txBox="1">
            <a:spLocks/>
          </p:cNvSpPr>
          <p:nvPr/>
        </p:nvSpPr>
        <p:spPr>
          <a:xfrm>
            <a:off x="327946" y="1103383"/>
            <a:ext cx="11492432" cy="3278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check exactly what’s being tracked and what’s being changed with </a:t>
            </a:r>
            <a:r>
              <a:rPr lang="en-US" dirty="0">
                <a:solidFill>
                  <a:srgbClr val="E11E5B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2873695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A5CC-598D-AB1D-5F35-CA5F4FA1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helpful git commands/tips!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4CFFA8-A16F-AEFA-7E67-4486ED07052F}"/>
              </a:ext>
            </a:extLst>
          </p:cNvPr>
          <p:cNvSpPr/>
          <p:nvPr/>
        </p:nvSpPr>
        <p:spPr>
          <a:xfrm>
            <a:off x="500226" y="2080591"/>
            <a:ext cx="11158332" cy="3670854"/>
          </a:xfrm>
          <a:prstGeom prst="roundRect">
            <a:avLst>
              <a:gd name="adj" fmla="val 1822"/>
            </a:avLst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log –-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oneline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c687343 (</a:t>
            </a:r>
            <a:r>
              <a:rPr lang="en-GB" b="1" dirty="0">
                <a:solidFill>
                  <a:schemeClr val="tx1">
                    <a:lumMod val="75000"/>
                  </a:schemeClr>
                </a:solidFill>
              </a:rPr>
              <a:t>HEAD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 -&gt; </a:t>
            </a:r>
            <a:r>
              <a:rPr lang="en-GB" b="1" dirty="0">
                <a:solidFill>
                  <a:schemeClr val="tx1">
                    <a:lumMod val="75000"/>
                  </a:schemeClr>
                </a:solidFill>
              </a:rPr>
              <a:t>malcolm_2026_update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GB" b="1" dirty="0">
                <a:solidFill>
                  <a:schemeClr val="tx1">
                    <a:lumMod val="75000"/>
                  </a:schemeClr>
                </a:solidFill>
              </a:rPr>
              <a:t>origin/main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GB" b="1" dirty="0">
                <a:solidFill>
                  <a:schemeClr val="tx1">
                    <a:lumMod val="75000"/>
                  </a:schemeClr>
                </a:solidFill>
              </a:rPr>
              <a:t>origin/HEAD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GB" b="1" dirty="0">
                <a:solidFill>
                  <a:schemeClr val="tx1">
                    <a:lumMod val="75000"/>
                  </a:schemeClr>
                </a:solidFill>
              </a:rPr>
              <a:t>main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) add in demo data for tutorial 3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63ae4d9 Removed obsolete lecture.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ea762e6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Diffferential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 evolution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76cac6e updated tutorial03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4f75458 add in tutorial 3 files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10308bc replacing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conda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 by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micromamba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 in tutorial0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92471a3 Merge pull request #3 from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mguthriem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/main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ee56a81 added 2025 intro slide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03d1f9d Merge pull request #2 from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mguthriem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/main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8bbbe5f Malcolm edits for 2025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</a:rPr>
              <a:t>d1b2e02 Update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</a:rPr>
              <a:t>README.md</a:t>
            </a:r>
            <a:endParaRPr lang="en-GB" dirty="0">
              <a:solidFill>
                <a:schemeClr val="tx1">
                  <a:lumMod val="75000"/>
                </a:schemeClr>
              </a:solidFill>
            </a:endParaRP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36FF0C-FAC8-D7F7-EDEE-93ECCDC88576}"/>
              </a:ext>
            </a:extLst>
          </p:cNvPr>
          <p:cNvSpPr txBox="1">
            <a:spLocks/>
          </p:cNvSpPr>
          <p:nvPr/>
        </p:nvSpPr>
        <p:spPr>
          <a:xfrm>
            <a:off x="327946" y="1103383"/>
            <a:ext cx="11492432" cy="3278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create a file called .</a:t>
            </a:r>
            <a:r>
              <a:rPr lang="en-US" dirty="0" err="1"/>
              <a:t>gitignore</a:t>
            </a:r>
            <a:r>
              <a:rPr lang="en-US" dirty="0"/>
              <a:t> in your repo, you can specify files/folders that git will literally ignore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log gives you access to metadata of all commits and their messages. If its TMI, adding 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–</a:t>
            </a:r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oneline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will just give. the hash and the commit message </a:t>
            </a:r>
          </a:p>
        </p:txBody>
      </p:sp>
    </p:spTree>
    <p:extLst>
      <p:ext uri="{BB962C8B-B14F-4D97-AF65-F5344CB8AC3E}">
        <p14:creationId xmlns:p14="http://schemas.microsoft.com/office/powerpoint/2010/main" val="502822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29E1-723A-5345-FDA0-58C16A83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D344-0E46-18B3-6314-5D9D64D8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helpful git commands/tips!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2759C0-C2D6-659E-8F92-8EE217C7D8E0}"/>
              </a:ext>
            </a:extLst>
          </p:cNvPr>
          <p:cNvSpPr/>
          <p:nvPr/>
        </p:nvSpPr>
        <p:spPr>
          <a:xfrm>
            <a:off x="526731" y="1484243"/>
            <a:ext cx="11158332" cy="901148"/>
          </a:xfrm>
          <a:prstGeom prst="roundRect">
            <a:avLst>
              <a:gd name="adj" fmla="val 1822"/>
            </a:avLst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remote -v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origin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git@github.com:neutrons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/ns-computation-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tutorial.git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(fetch)</a:t>
            </a:r>
          </a:p>
          <a:p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origin 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git@github.com:neutrons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/ns-computation-</a:t>
            </a:r>
            <a:r>
              <a:rPr lang="en-GB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tutorial.git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(push)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4F6398-B474-F2AA-5899-DEBB405B5D99}"/>
              </a:ext>
            </a:extLst>
          </p:cNvPr>
          <p:cNvSpPr txBox="1">
            <a:spLocks/>
          </p:cNvSpPr>
          <p:nvPr/>
        </p:nvSpPr>
        <p:spPr>
          <a:xfrm>
            <a:off x="327946" y="1103383"/>
            <a:ext cx="11492432" cy="3278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check the where push and pull will connect to with 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remote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B314FF-0B60-E911-6342-2D1FFD3CFC81}"/>
              </a:ext>
            </a:extLst>
          </p:cNvPr>
          <p:cNvSpPr/>
          <p:nvPr/>
        </p:nvSpPr>
        <p:spPr>
          <a:xfrm>
            <a:off x="480348" y="2935356"/>
            <a:ext cx="11158332" cy="386964"/>
          </a:xfrm>
          <a:prstGeom prst="roundRect">
            <a:avLst>
              <a:gd name="adj" fmla="val 1822"/>
            </a:avLst>
          </a:prstGeom>
          <a:solidFill>
            <a:srgbClr val="F3F3F2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dirty="0" err="1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meMyself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 git diff main</a:t>
            </a:r>
          </a:p>
          <a:p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AE245F-AB9A-850C-E8F9-35A3EFB3916B}"/>
              </a:ext>
            </a:extLst>
          </p:cNvPr>
          <p:cNvSpPr txBox="1">
            <a:spLocks/>
          </p:cNvSpPr>
          <p:nvPr/>
        </p:nvSpPr>
        <p:spPr>
          <a:xfrm>
            <a:off x="281563" y="2554496"/>
            <a:ext cx="11492432" cy="3278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Aptos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see the exact changes you’ve made relative to  another branch with </a:t>
            </a:r>
            <a:r>
              <a:rPr lang="en-US" dirty="0">
                <a:solidFill>
                  <a:srgbClr val="E11E5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diff</a:t>
            </a:r>
            <a:r>
              <a:rPr lang="en-US" dirty="0"/>
              <a:t>. If you are on your own branch</a:t>
            </a:r>
            <a:endParaRPr lang="en-US" dirty="0">
              <a:solidFill>
                <a:srgbClr val="E11E5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E9972-19DA-2D08-DA08-0365E261D1AB}"/>
              </a:ext>
            </a:extLst>
          </p:cNvPr>
          <p:cNvSpPr txBox="1"/>
          <p:nvPr/>
        </p:nvSpPr>
        <p:spPr>
          <a:xfrm>
            <a:off x="2504661" y="4850295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more to come in the git tutorial!</a:t>
            </a:r>
          </a:p>
        </p:txBody>
      </p:sp>
    </p:spTree>
    <p:extLst>
      <p:ext uri="{BB962C8B-B14F-4D97-AF65-F5344CB8AC3E}">
        <p14:creationId xmlns:p14="http://schemas.microsoft.com/office/powerpoint/2010/main" val="2274398045"/>
      </p:ext>
    </p:extLst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RNL Green">
      <a:srgbClr val="00662C"/>
    </a:custClr>
    <a:custClr name="Hale Navy">
      <a:srgbClr val="00454D"/>
    </a:custClr>
    <a:custClr name="Graphite">
      <a:srgbClr val="DBDCDB"/>
    </a:custClr>
    <a:custClr name="Polar">
      <a:srgbClr val="FFFFFF"/>
    </a:custClr>
    <a:custClr name="Dark Matter">
      <a:srgbClr val="373A36"/>
    </a:custClr>
    <a:custClr name="Energy">
      <a:srgbClr val="7DBA00"/>
    </a:custClr>
    <a:custClr name="Mist">
      <a:srgbClr val="8BFEBF"/>
    </a:custClr>
    <a:custClr name="Biome">
      <a:srgbClr val="00B38F"/>
    </a:custClr>
    <a:custClr name="Aqua">
      <a:srgbClr val="00BDB5"/>
    </a:custClr>
    <a:custClr name="Infinity">
      <a:srgbClr val="006BA6"/>
    </a:custClr>
    <a:custClr name="Hydro">
      <a:srgbClr val="005776"/>
    </a:custClr>
    <a:custClr name="Forge">
      <a:srgbClr val="FF9E1B"/>
    </a:custClr>
    <a:custClr name="Spark">
      <a:srgbClr val="FE5000"/>
    </a:custClr>
    <a:custClr name="Plasma">
      <a:srgbClr val="B50094"/>
    </a:custClr>
    <a:custClr name="Pulsar">
      <a:srgbClr val="4E008E"/>
    </a:custClr>
  </a:custClrLst>
  <a:extLst>
    <a:ext uri="{05A4C25C-085E-4340-85A3-A5531E510DB2}">
      <thm15:themeFamily xmlns:thm15="http://schemas.microsoft.com/office/thememl/2012/main" name="ORNL-Presentation-16x9-Template" id="{7046AE06-9846-7E4F-8310-1A5182779058}" vid="{9FE858FF-43F1-DB4C-AB9C-425F4E62A3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2B8826E43E7C4DB802D9B32C536A48" ma:contentTypeVersion="3" ma:contentTypeDescription="Create a new document." ma:contentTypeScope="" ma:versionID="f5e42f8e0d30833b926c3998c180937f">
  <xsd:schema xmlns:xsd="http://www.w3.org/2001/XMLSchema" xmlns:xs="http://www.w3.org/2001/XMLSchema" xmlns:p="http://schemas.microsoft.com/office/2006/metadata/properties" xmlns:ns2="72a292dc-bc7d-4064-ad7e-59ebb9ecfed4" targetNamespace="http://schemas.microsoft.com/office/2006/metadata/properties" ma:root="true" ma:fieldsID="952d09375256859619f1fe54a00e39ff" ns2:_="">
    <xsd:import namespace="72a292dc-bc7d-4064-ad7e-59ebb9ecf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a292dc-bc7d-4064-ad7e-59ebb9ecf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F4C1D3-2A00-4A54-88A9-FE71AE16AD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a292dc-bc7d-4064-ad7e-59ebb9ecfe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603523-12E1-4473-A3D6-24CB4FC2123F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72a292dc-bc7d-4064-ad7e-59ebb9ecfed4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80AF77A-DF5B-42FC-81A4-45C3C58197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942</Words>
  <Application>Microsoft Macintosh PowerPoint</Application>
  <PresentationFormat>Widescreen</PresentationFormat>
  <Paragraphs>120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Light</vt:lpstr>
      <vt:lpstr>Arial</vt:lpstr>
      <vt:lpstr>Century Gothic</vt:lpstr>
      <vt:lpstr>Consolas</vt:lpstr>
      <vt:lpstr>ORNL Presentation</vt:lpstr>
      <vt:lpstr>Version control: an insanely useful tool for creation and collaboration</vt:lpstr>
      <vt:lpstr>PowerPoint Presentation</vt:lpstr>
      <vt:lpstr>Version control and git</vt:lpstr>
      <vt:lpstr>Some helpful git terminology</vt:lpstr>
      <vt:lpstr>Typical git workflow</vt:lpstr>
      <vt:lpstr>Typical git workflow</vt:lpstr>
      <vt:lpstr>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helpful github terminology</vt:lpstr>
      <vt:lpstr>Some helpful git commands/tips!</vt:lpstr>
      <vt:lpstr>Some helpful git commands/tips!</vt:lpstr>
      <vt:lpstr>Some helpful git commands/tips!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Hardin, Mike</dc:creator>
  <cp:keywords/>
  <dc:description/>
  <cp:lastModifiedBy>Guthrie, Malcolm</cp:lastModifiedBy>
  <cp:revision>32</cp:revision>
  <dcterms:created xsi:type="dcterms:W3CDTF">2026-02-12T15:31:11Z</dcterms:created>
  <dcterms:modified xsi:type="dcterms:W3CDTF">2026-08-25T19:01:55Z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0x010100322B8826E43E7C4DB802D9B32C536A48</vt:lpwstr>
  </property>
</Properties>
</file>